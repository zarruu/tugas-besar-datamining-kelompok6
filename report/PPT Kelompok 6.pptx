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Pattanakarn" charset="1" panose="00000000000000000000"/>
      <p:regular r:id="rId20"/>
    </p:embeddedFont>
    <p:embeddedFont>
      <p:font typeface="Tomorrow Bold" charset="1" panose="00000000000000000000"/>
      <p:regular r:id="rId21"/>
    </p:embeddedFont>
    <p:embeddedFont>
      <p:font typeface="Pattanakarn Bold" charset="1" panose="00000000000000000000"/>
      <p:regular r:id="rId22"/>
    </p:embeddedFont>
    <p:embeddedFont>
      <p:font typeface="Open Sans Bold" charset="1" panose="020B0806030504020204"/>
      <p:regular r:id="rId23"/>
    </p:embeddedFont>
    <p:embeddedFont>
      <p:font typeface="Arimo Bold" charset="1" panose="020B0704020202020204"/>
      <p:regular r:id="rId24"/>
    </p:embeddedFont>
    <p:embeddedFont>
      <p:font typeface="Tomorrow"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1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svg" Type="http://schemas.openxmlformats.org/officeDocument/2006/relationships/image"/><Relationship Id="rId2" Target="../media/image22.png" Type="http://schemas.openxmlformats.org/officeDocument/2006/relationships/image"/><Relationship Id="rId3" Target="../media/image23.svg" Type="http://schemas.openxmlformats.org/officeDocument/2006/relationships/image"/><Relationship Id="rId4" Target="../media/image7.pn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 Id="rId9"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26.png" Type="http://schemas.openxmlformats.org/officeDocument/2006/relationships/image"/><Relationship Id="rId8" Target="../media/image27.png" Type="http://schemas.openxmlformats.org/officeDocument/2006/relationships/image"/><Relationship Id="rId9" Target="../media/image2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4940925" y="6906473"/>
            <a:ext cx="4045796" cy="4151469"/>
          </a:xfrm>
          <a:custGeom>
            <a:avLst/>
            <a:gdLst/>
            <a:ahLst/>
            <a:cxnLst/>
            <a:rect r="r" b="b" t="t" l="l"/>
            <a:pathLst>
              <a:path h="4151469" w="4045796">
                <a:moveTo>
                  <a:pt x="0" y="0"/>
                </a:moveTo>
                <a:lnTo>
                  <a:pt x="4045796" y="0"/>
                </a:lnTo>
                <a:lnTo>
                  <a:pt x="4045796" y="4151469"/>
                </a:lnTo>
                <a:lnTo>
                  <a:pt x="0" y="4151469"/>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331859" y="7190644"/>
            <a:ext cx="8189551" cy="2898644"/>
            <a:chOff x="0" y="0"/>
            <a:chExt cx="2156919" cy="763429"/>
          </a:xfrm>
        </p:grpSpPr>
        <p:sp>
          <p:nvSpPr>
            <p:cNvPr name="Freeform 4" id="4"/>
            <p:cNvSpPr/>
            <p:nvPr/>
          </p:nvSpPr>
          <p:spPr>
            <a:xfrm flipH="false" flipV="false" rot="0">
              <a:off x="0" y="0"/>
              <a:ext cx="2156919" cy="763429"/>
            </a:xfrm>
            <a:custGeom>
              <a:avLst/>
              <a:gdLst/>
              <a:ahLst/>
              <a:cxnLst/>
              <a:rect r="r" b="b" t="t" l="l"/>
              <a:pathLst>
                <a:path h="763429" w="2156919">
                  <a:moveTo>
                    <a:pt x="69955" y="0"/>
                  </a:moveTo>
                  <a:lnTo>
                    <a:pt x="2086964" y="0"/>
                  </a:lnTo>
                  <a:cubicBezTo>
                    <a:pt x="2105517" y="0"/>
                    <a:pt x="2123310" y="7370"/>
                    <a:pt x="2136429" y="20489"/>
                  </a:cubicBezTo>
                  <a:cubicBezTo>
                    <a:pt x="2149548" y="33609"/>
                    <a:pt x="2156919" y="51402"/>
                    <a:pt x="2156919" y="69955"/>
                  </a:cubicBezTo>
                  <a:lnTo>
                    <a:pt x="2156919" y="693474"/>
                  </a:lnTo>
                  <a:cubicBezTo>
                    <a:pt x="2156919" y="712027"/>
                    <a:pt x="2149548" y="729820"/>
                    <a:pt x="2136429" y="742939"/>
                  </a:cubicBezTo>
                  <a:cubicBezTo>
                    <a:pt x="2123310" y="756059"/>
                    <a:pt x="2105517" y="763429"/>
                    <a:pt x="2086964" y="763429"/>
                  </a:cubicBezTo>
                  <a:lnTo>
                    <a:pt x="69955" y="763429"/>
                  </a:lnTo>
                  <a:cubicBezTo>
                    <a:pt x="51402" y="763429"/>
                    <a:pt x="33609" y="756059"/>
                    <a:pt x="20489" y="742939"/>
                  </a:cubicBezTo>
                  <a:cubicBezTo>
                    <a:pt x="7370" y="729820"/>
                    <a:pt x="0" y="712027"/>
                    <a:pt x="0" y="693474"/>
                  </a:cubicBezTo>
                  <a:lnTo>
                    <a:pt x="0" y="69955"/>
                  </a:lnTo>
                  <a:cubicBezTo>
                    <a:pt x="0" y="51402"/>
                    <a:pt x="7370" y="33609"/>
                    <a:pt x="20489" y="20489"/>
                  </a:cubicBezTo>
                  <a:cubicBezTo>
                    <a:pt x="33609" y="7370"/>
                    <a:pt x="51402" y="0"/>
                    <a:pt x="69955" y="0"/>
                  </a:cubicBezTo>
                  <a:close/>
                </a:path>
              </a:pathLst>
            </a:custGeom>
            <a:solidFill>
              <a:srgbClr val="00385E"/>
            </a:solidFill>
            <a:ln w="47625" cap="rnd">
              <a:solidFill>
                <a:srgbClr val="FFFFFF"/>
              </a:solidFill>
              <a:prstDash val="solid"/>
              <a:round/>
            </a:ln>
          </p:spPr>
        </p:sp>
        <p:sp>
          <p:nvSpPr>
            <p:cNvPr name="TextBox 5" id="5"/>
            <p:cNvSpPr txBox="true"/>
            <p:nvPr/>
          </p:nvSpPr>
          <p:spPr>
            <a:xfrm>
              <a:off x="0" y="-47625"/>
              <a:ext cx="2156919" cy="811054"/>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6873934" y="2711522"/>
            <a:ext cx="5074112" cy="670852"/>
          </a:xfrm>
          <a:prstGeom prst="rect">
            <a:avLst/>
          </a:prstGeom>
        </p:spPr>
        <p:txBody>
          <a:bodyPr anchor="t" rtlCol="false" tIns="0" lIns="0" bIns="0" rIns="0">
            <a:spAutoFit/>
          </a:bodyPr>
          <a:lstStyle/>
          <a:p>
            <a:pPr algn="l">
              <a:lnSpc>
                <a:spcPts val="5548"/>
              </a:lnSpc>
            </a:pPr>
            <a:r>
              <a:rPr lang="en-US" sz="3963" spc="1506">
                <a:solidFill>
                  <a:srgbClr val="FFFFFF"/>
                </a:solidFill>
                <a:latin typeface="Pattanakarn"/>
                <a:ea typeface="Pattanakarn"/>
                <a:cs typeface="Pattanakarn"/>
                <a:sym typeface="Pattanakarn"/>
              </a:rPr>
              <a:t>Data Mining</a:t>
            </a:r>
          </a:p>
        </p:txBody>
      </p:sp>
      <p:sp>
        <p:nvSpPr>
          <p:cNvPr name="TextBox 7" id="7"/>
          <p:cNvSpPr txBox="true"/>
          <p:nvPr/>
        </p:nvSpPr>
        <p:spPr>
          <a:xfrm rot="0">
            <a:off x="6841785" y="3555340"/>
            <a:ext cx="11703056" cy="2385225"/>
          </a:xfrm>
          <a:prstGeom prst="rect">
            <a:avLst/>
          </a:prstGeom>
        </p:spPr>
        <p:txBody>
          <a:bodyPr anchor="t" rtlCol="false" tIns="0" lIns="0" bIns="0" rIns="0">
            <a:spAutoFit/>
          </a:bodyPr>
          <a:lstStyle/>
          <a:p>
            <a:pPr algn="l">
              <a:lnSpc>
                <a:spcPts val="4657"/>
              </a:lnSpc>
            </a:pPr>
            <a:r>
              <a:rPr lang="en-US" sz="4657" spc="968" b="true">
                <a:solidFill>
                  <a:srgbClr val="FFFFFF"/>
                </a:solidFill>
                <a:latin typeface="Tomorrow Bold"/>
                <a:ea typeface="Tomorrow Bold"/>
                <a:cs typeface="Tomorrow Bold"/>
                <a:sym typeface="Tomorrow Bold"/>
              </a:rPr>
              <a:t>RANCANG BANGUN SISTEM REKOMENDASI </a:t>
            </a:r>
          </a:p>
          <a:p>
            <a:pPr algn="l">
              <a:lnSpc>
                <a:spcPts val="4657"/>
              </a:lnSpc>
            </a:pPr>
            <a:r>
              <a:rPr lang="en-US" sz="4657" spc="968" b="true">
                <a:solidFill>
                  <a:srgbClr val="FFFFFF"/>
                </a:solidFill>
                <a:latin typeface="Tomorrow Bold"/>
                <a:ea typeface="Tomorrow Bold"/>
                <a:cs typeface="Tomorrow Bold"/>
                <a:sym typeface="Tomorrow Bold"/>
              </a:rPr>
              <a:t>WISATA PULAU JAWA</a:t>
            </a:r>
          </a:p>
          <a:p>
            <a:pPr algn="l">
              <a:lnSpc>
                <a:spcPts val="4657"/>
              </a:lnSpc>
            </a:pPr>
          </a:p>
        </p:txBody>
      </p:sp>
      <p:sp>
        <p:nvSpPr>
          <p:cNvPr name="Freeform 8" id="8"/>
          <p:cNvSpPr/>
          <p:nvPr/>
        </p:nvSpPr>
        <p:spPr>
          <a:xfrm flipH="false" flipV="false" rot="0">
            <a:off x="14274765" y="-1387091"/>
            <a:ext cx="4270075" cy="4114800"/>
          </a:xfrm>
          <a:custGeom>
            <a:avLst/>
            <a:gdLst/>
            <a:ahLst/>
            <a:cxnLst/>
            <a:rect r="r" b="b" t="t" l="l"/>
            <a:pathLst>
              <a:path h="4114800" w="4270075">
                <a:moveTo>
                  <a:pt x="0" y="0"/>
                </a:moveTo>
                <a:lnTo>
                  <a:pt x="4270076" y="0"/>
                </a:lnTo>
                <a:lnTo>
                  <a:pt x="4270076" y="4114800"/>
                </a:lnTo>
                <a:lnTo>
                  <a:pt x="0" y="4114800"/>
                </a:lnTo>
                <a:lnTo>
                  <a:pt x="0" y="0"/>
                </a:lnTo>
                <a:close/>
              </a:path>
            </a:pathLst>
          </a:custGeom>
          <a:blipFill>
            <a:blip r:embed="rId4">
              <a:alphaModFix amt="44999"/>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6301309">
            <a:off x="14991254" y="-778904"/>
            <a:ext cx="4536092" cy="2359787"/>
          </a:xfrm>
          <a:custGeom>
            <a:avLst/>
            <a:gdLst/>
            <a:ahLst/>
            <a:cxnLst/>
            <a:rect r="r" b="b" t="t" l="l"/>
            <a:pathLst>
              <a:path h="2359787" w="4536092">
                <a:moveTo>
                  <a:pt x="0" y="0"/>
                </a:moveTo>
                <a:lnTo>
                  <a:pt x="4536092" y="0"/>
                </a:lnTo>
                <a:lnTo>
                  <a:pt x="4536092" y="2359787"/>
                </a:lnTo>
                <a:lnTo>
                  <a:pt x="0" y="23597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5992063" y="7598893"/>
            <a:ext cx="2339797" cy="1501724"/>
          </a:xfrm>
          <a:custGeom>
            <a:avLst/>
            <a:gdLst/>
            <a:ahLst/>
            <a:cxnLst/>
            <a:rect r="r" b="b" t="t" l="l"/>
            <a:pathLst>
              <a:path h="1501724" w="2339797">
                <a:moveTo>
                  <a:pt x="0" y="0"/>
                </a:moveTo>
                <a:lnTo>
                  <a:pt x="2339796" y="0"/>
                </a:lnTo>
                <a:lnTo>
                  <a:pt x="2339796" y="1501724"/>
                </a:lnTo>
                <a:lnTo>
                  <a:pt x="0" y="1501724"/>
                </a:lnTo>
                <a:lnTo>
                  <a:pt x="0" y="0"/>
                </a:lnTo>
                <a:close/>
              </a:path>
            </a:pathLst>
          </a:custGeom>
          <a:blipFill>
            <a:blip r:embed="rId8"/>
            <a:stretch>
              <a:fillRect l="0" t="0" r="0" b="0"/>
            </a:stretch>
          </a:blipFill>
        </p:spPr>
      </p:sp>
      <p:sp>
        <p:nvSpPr>
          <p:cNvPr name="Freeform 11" id="11"/>
          <p:cNvSpPr/>
          <p:nvPr/>
        </p:nvSpPr>
        <p:spPr>
          <a:xfrm flipH="false" flipV="false" rot="0">
            <a:off x="6584944" y="7717303"/>
            <a:ext cx="1264905" cy="1264905"/>
          </a:xfrm>
          <a:custGeom>
            <a:avLst/>
            <a:gdLst/>
            <a:ahLst/>
            <a:cxnLst/>
            <a:rect r="r" b="b" t="t" l="l"/>
            <a:pathLst>
              <a:path h="1264905" w="1264905">
                <a:moveTo>
                  <a:pt x="0" y="0"/>
                </a:moveTo>
                <a:lnTo>
                  <a:pt x="1264905" y="0"/>
                </a:lnTo>
                <a:lnTo>
                  <a:pt x="1264905" y="1264905"/>
                </a:lnTo>
                <a:lnTo>
                  <a:pt x="0" y="126490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384461" y="670282"/>
            <a:ext cx="3326385" cy="2134934"/>
          </a:xfrm>
          <a:custGeom>
            <a:avLst/>
            <a:gdLst/>
            <a:ahLst/>
            <a:cxnLst/>
            <a:rect r="r" b="b" t="t" l="l"/>
            <a:pathLst>
              <a:path h="2134934" w="3326385">
                <a:moveTo>
                  <a:pt x="0" y="0"/>
                </a:moveTo>
                <a:lnTo>
                  <a:pt x="3326385" y="0"/>
                </a:lnTo>
                <a:lnTo>
                  <a:pt x="3326385" y="2134934"/>
                </a:lnTo>
                <a:lnTo>
                  <a:pt x="0" y="2134934"/>
                </a:lnTo>
                <a:lnTo>
                  <a:pt x="0" y="0"/>
                </a:lnTo>
                <a:close/>
              </a:path>
            </a:pathLst>
          </a:custGeom>
          <a:blipFill>
            <a:blip r:embed="rId8"/>
            <a:stretch>
              <a:fillRect l="0" t="0" r="0" b="0"/>
            </a:stretch>
          </a:blipFill>
        </p:spPr>
      </p:sp>
      <p:sp>
        <p:nvSpPr>
          <p:cNvPr name="TextBox 13" id="13"/>
          <p:cNvSpPr txBox="true"/>
          <p:nvPr/>
        </p:nvSpPr>
        <p:spPr>
          <a:xfrm rot="0">
            <a:off x="942777" y="1367771"/>
            <a:ext cx="2209753" cy="874406"/>
          </a:xfrm>
          <a:prstGeom prst="rect">
            <a:avLst/>
          </a:prstGeom>
        </p:spPr>
        <p:txBody>
          <a:bodyPr anchor="t" rtlCol="false" tIns="0" lIns="0" bIns="0" rIns="0">
            <a:spAutoFit/>
          </a:bodyPr>
          <a:lstStyle/>
          <a:p>
            <a:pPr algn="ctr">
              <a:lnSpc>
                <a:spcPts val="7193"/>
              </a:lnSpc>
            </a:pPr>
            <a:r>
              <a:rPr lang="en-US" sz="5138">
                <a:solidFill>
                  <a:srgbClr val="FFFFFF"/>
                </a:solidFill>
                <a:latin typeface="Pattanakarn"/>
                <a:ea typeface="Pattanakarn"/>
                <a:cs typeface="Pattanakarn"/>
                <a:sym typeface="Pattanakarn"/>
              </a:rPr>
              <a:t>Data</a:t>
            </a:r>
          </a:p>
        </p:txBody>
      </p:sp>
      <p:sp>
        <p:nvSpPr>
          <p:cNvPr name="Freeform 14" id="14"/>
          <p:cNvSpPr/>
          <p:nvPr/>
        </p:nvSpPr>
        <p:spPr>
          <a:xfrm flipH="false" flipV="false" rot="0">
            <a:off x="5483678" y="302261"/>
            <a:ext cx="2415540" cy="1550338"/>
          </a:xfrm>
          <a:custGeom>
            <a:avLst/>
            <a:gdLst/>
            <a:ahLst/>
            <a:cxnLst/>
            <a:rect r="r" b="b" t="t" l="l"/>
            <a:pathLst>
              <a:path h="1550338" w="2415540">
                <a:moveTo>
                  <a:pt x="0" y="0"/>
                </a:moveTo>
                <a:lnTo>
                  <a:pt x="2415540" y="0"/>
                </a:lnTo>
                <a:lnTo>
                  <a:pt x="2415540" y="1550338"/>
                </a:lnTo>
                <a:lnTo>
                  <a:pt x="0" y="1550338"/>
                </a:lnTo>
                <a:lnTo>
                  <a:pt x="0" y="0"/>
                </a:lnTo>
                <a:close/>
              </a:path>
            </a:pathLst>
          </a:custGeom>
          <a:blipFill>
            <a:blip r:embed="rId8"/>
            <a:stretch>
              <a:fillRect l="0" t="0" r="0" b="0"/>
            </a:stretch>
          </a:blipFill>
        </p:spPr>
      </p:sp>
      <p:sp>
        <p:nvSpPr>
          <p:cNvPr name="Freeform 15" id="15"/>
          <p:cNvSpPr/>
          <p:nvPr/>
        </p:nvSpPr>
        <p:spPr>
          <a:xfrm flipH="false" flipV="false" rot="0">
            <a:off x="6017640" y="504983"/>
            <a:ext cx="1347615" cy="1347615"/>
          </a:xfrm>
          <a:custGeom>
            <a:avLst/>
            <a:gdLst/>
            <a:ahLst/>
            <a:cxnLst/>
            <a:rect r="r" b="b" t="t" l="l"/>
            <a:pathLst>
              <a:path h="1347615" w="1347615">
                <a:moveTo>
                  <a:pt x="0" y="0"/>
                </a:moveTo>
                <a:lnTo>
                  <a:pt x="1347615" y="0"/>
                </a:lnTo>
                <a:lnTo>
                  <a:pt x="1347615" y="1347616"/>
                </a:lnTo>
                <a:lnTo>
                  <a:pt x="0" y="134761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6" id="16"/>
          <p:cNvSpPr/>
          <p:nvPr/>
        </p:nvSpPr>
        <p:spPr>
          <a:xfrm flipH="false" flipV="false" rot="0">
            <a:off x="-1006432" y="2270424"/>
            <a:ext cx="7591376" cy="8016576"/>
          </a:xfrm>
          <a:custGeom>
            <a:avLst/>
            <a:gdLst/>
            <a:ahLst/>
            <a:cxnLst/>
            <a:rect r="r" b="b" t="t" l="l"/>
            <a:pathLst>
              <a:path h="8016576" w="7591376">
                <a:moveTo>
                  <a:pt x="0" y="0"/>
                </a:moveTo>
                <a:lnTo>
                  <a:pt x="7591376" y="0"/>
                </a:lnTo>
                <a:lnTo>
                  <a:pt x="7591376" y="8016576"/>
                </a:lnTo>
                <a:lnTo>
                  <a:pt x="0" y="801657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7" id="17"/>
          <p:cNvSpPr txBox="true"/>
          <p:nvPr/>
        </p:nvSpPr>
        <p:spPr>
          <a:xfrm rot="0">
            <a:off x="8846531" y="7551268"/>
            <a:ext cx="7160207" cy="1985316"/>
          </a:xfrm>
          <a:prstGeom prst="rect">
            <a:avLst/>
          </a:prstGeom>
        </p:spPr>
        <p:txBody>
          <a:bodyPr anchor="t" rtlCol="false" tIns="0" lIns="0" bIns="0" rIns="0">
            <a:spAutoFit/>
          </a:bodyPr>
          <a:lstStyle/>
          <a:p>
            <a:pPr algn="ctr">
              <a:lnSpc>
                <a:spcPts val="3968"/>
              </a:lnSpc>
            </a:pPr>
            <a:r>
              <a:rPr lang="en-US" sz="2834" spc="59">
                <a:solidFill>
                  <a:srgbClr val="FFFFFF"/>
                </a:solidFill>
                <a:latin typeface="Pattanakarn"/>
                <a:ea typeface="Pattanakarn"/>
                <a:cs typeface="Pattanakarn"/>
                <a:sym typeface="Pattanakarn"/>
              </a:rPr>
              <a:t>Hadi Muhammad Yusuf (714230019)</a:t>
            </a:r>
          </a:p>
          <a:p>
            <a:pPr algn="ctr">
              <a:lnSpc>
                <a:spcPts val="3968"/>
              </a:lnSpc>
            </a:pPr>
            <a:r>
              <a:rPr lang="en-US" sz="2834" spc="59">
                <a:solidFill>
                  <a:srgbClr val="FFFFFF"/>
                </a:solidFill>
                <a:latin typeface="Pattanakarn"/>
                <a:ea typeface="Pattanakarn"/>
                <a:cs typeface="Pattanakarn"/>
                <a:sym typeface="Pattanakarn"/>
              </a:rPr>
              <a:t>Muf</a:t>
            </a:r>
            <a:r>
              <a:rPr lang="en-US" sz="2834" spc="59">
                <a:solidFill>
                  <a:srgbClr val="FFFFFF"/>
                </a:solidFill>
                <a:latin typeface="Pattanakarn"/>
                <a:ea typeface="Pattanakarn"/>
                <a:cs typeface="Pattanakarn"/>
                <a:sym typeface="Pattanakarn"/>
              </a:rPr>
              <a:t>lih Afif Mukhtalif (714230012)</a:t>
            </a:r>
          </a:p>
          <a:p>
            <a:pPr algn="ctr">
              <a:lnSpc>
                <a:spcPts val="3968"/>
              </a:lnSpc>
            </a:pPr>
            <a:r>
              <a:rPr lang="en-US" sz="2834" spc="59">
                <a:solidFill>
                  <a:srgbClr val="FFFFFF"/>
                </a:solidFill>
                <a:latin typeface="Pattanakarn"/>
                <a:ea typeface="Pattanakarn"/>
                <a:cs typeface="Pattanakarn"/>
                <a:sym typeface="Pattanakarn"/>
              </a:rPr>
              <a:t>Muhammad Nizar Akmal (714230007)</a:t>
            </a:r>
          </a:p>
          <a:p>
            <a:pPr algn="ctr">
              <a:lnSpc>
                <a:spcPts val="3968"/>
              </a:lnSpc>
            </a:pPr>
            <a:r>
              <a:rPr lang="en-US" sz="2834" spc="59">
                <a:solidFill>
                  <a:srgbClr val="FFFFFF"/>
                </a:solidFill>
                <a:latin typeface="Pattanakarn"/>
                <a:ea typeface="Pattanakarn"/>
                <a:cs typeface="Pattanakarn"/>
                <a:sym typeface="Pattanakarn"/>
              </a:rPr>
              <a:t>Ananda Raka Wilangga (714230023)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1511093" y="400990"/>
            <a:ext cx="5043482" cy="5175215"/>
          </a:xfrm>
          <a:custGeom>
            <a:avLst/>
            <a:gdLst/>
            <a:ahLst/>
            <a:cxnLst/>
            <a:rect r="r" b="b" t="t" l="l"/>
            <a:pathLst>
              <a:path h="5175215" w="5043482">
                <a:moveTo>
                  <a:pt x="0" y="0"/>
                </a:moveTo>
                <a:lnTo>
                  <a:pt x="5043482" y="0"/>
                </a:lnTo>
                <a:lnTo>
                  <a:pt x="5043482" y="5175215"/>
                </a:lnTo>
                <a:lnTo>
                  <a:pt x="0" y="5175215"/>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858396" y="160971"/>
            <a:ext cx="15526296" cy="9965059"/>
          </a:xfrm>
          <a:custGeom>
            <a:avLst/>
            <a:gdLst/>
            <a:ahLst/>
            <a:cxnLst/>
            <a:rect r="r" b="b" t="t" l="l"/>
            <a:pathLst>
              <a:path h="9965059" w="15526296">
                <a:moveTo>
                  <a:pt x="0" y="0"/>
                </a:moveTo>
                <a:lnTo>
                  <a:pt x="15526296" y="0"/>
                </a:lnTo>
                <a:lnTo>
                  <a:pt x="15526296" y="9965058"/>
                </a:lnTo>
                <a:lnTo>
                  <a:pt x="0" y="9965058"/>
                </a:lnTo>
                <a:lnTo>
                  <a:pt x="0" y="0"/>
                </a:lnTo>
                <a:close/>
              </a:path>
            </a:pathLst>
          </a:custGeom>
          <a:blipFill>
            <a:blip r:embed="rId4"/>
            <a:stretch>
              <a:fillRect l="0" t="0" r="0" b="0"/>
            </a:stretch>
          </a:blipFill>
        </p:spPr>
      </p:sp>
      <p:sp>
        <p:nvSpPr>
          <p:cNvPr name="Freeform 4" id="4"/>
          <p:cNvSpPr/>
          <p:nvPr/>
        </p:nvSpPr>
        <p:spPr>
          <a:xfrm flipH="true" flipV="true" rot="8633086">
            <a:off x="14991254" y="8506824"/>
            <a:ext cx="4536092" cy="2359787"/>
          </a:xfrm>
          <a:custGeom>
            <a:avLst/>
            <a:gdLst/>
            <a:ahLst/>
            <a:cxnLst/>
            <a:rect r="r" b="b" t="t" l="l"/>
            <a:pathLst>
              <a:path h="2359787" w="4536092">
                <a:moveTo>
                  <a:pt x="4536092" y="2359787"/>
                </a:moveTo>
                <a:lnTo>
                  <a:pt x="0" y="2359787"/>
                </a:lnTo>
                <a:lnTo>
                  <a:pt x="0" y="0"/>
                </a:lnTo>
                <a:lnTo>
                  <a:pt x="4536092" y="0"/>
                </a:lnTo>
                <a:lnTo>
                  <a:pt x="4536092" y="2359787"/>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6301309">
            <a:off x="14991254" y="-778904"/>
            <a:ext cx="4536092" cy="2359787"/>
          </a:xfrm>
          <a:custGeom>
            <a:avLst/>
            <a:gdLst/>
            <a:ahLst/>
            <a:cxnLst/>
            <a:rect r="r" b="b" t="t" l="l"/>
            <a:pathLst>
              <a:path h="2359787" w="4536092">
                <a:moveTo>
                  <a:pt x="0" y="0"/>
                </a:moveTo>
                <a:lnTo>
                  <a:pt x="4536092" y="0"/>
                </a:lnTo>
                <a:lnTo>
                  <a:pt x="4536092" y="2359787"/>
                </a:lnTo>
                <a:lnTo>
                  <a:pt x="0" y="235978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0" y="3793440"/>
            <a:ext cx="4874073" cy="5444975"/>
          </a:xfrm>
          <a:custGeom>
            <a:avLst/>
            <a:gdLst/>
            <a:ahLst/>
            <a:cxnLst/>
            <a:rect r="r" b="b" t="t" l="l"/>
            <a:pathLst>
              <a:path h="5444975" w="4874073">
                <a:moveTo>
                  <a:pt x="0" y="0"/>
                </a:moveTo>
                <a:lnTo>
                  <a:pt x="4874073" y="0"/>
                </a:lnTo>
                <a:lnTo>
                  <a:pt x="4874073" y="5444975"/>
                </a:lnTo>
                <a:lnTo>
                  <a:pt x="0" y="544497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4874073" y="1104900"/>
            <a:ext cx="8115300" cy="679450"/>
          </a:xfrm>
          <a:prstGeom prst="rect">
            <a:avLst/>
          </a:prstGeom>
        </p:spPr>
        <p:txBody>
          <a:bodyPr anchor="t" rtlCol="false" tIns="0" lIns="0" bIns="0" rIns="0">
            <a:spAutoFit/>
          </a:bodyPr>
          <a:lstStyle/>
          <a:p>
            <a:pPr algn="l">
              <a:lnSpc>
                <a:spcPts val="5000"/>
              </a:lnSpc>
            </a:pPr>
            <a:r>
              <a:rPr lang="en-US" sz="5000" spc="140" b="true">
                <a:solidFill>
                  <a:srgbClr val="FFFFFF"/>
                </a:solidFill>
                <a:latin typeface="Tomorrow Bold"/>
                <a:ea typeface="Tomorrow Bold"/>
                <a:cs typeface="Tomorrow Bold"/>
                <a:sym typeface="Tomorrow Bold"/>
              </a:rPr>
              <a:t>Latar Belakang</a:t>
            </a:r>
          </a:p>
        </p:txBody>
      </p:sp>
      <p:sp>
        <p:nvSpPr>
          <p:cNvPr name="Freeform 8" id="8"/>
          <p:cNvSpPr/>
          <p:nvPr/>
        </p:nvSpPr>
        <p:spPr>
          <a:xfrm flipH="false" flipV="false" rot="8633086">
            <a:off x="-1239346" y="17044"/>
            <a:ext cx="4536092" cy="2359787"/>
          </a:xfrm>
          <a:custGeom>
            <a:avLst/>
            <a:gdLst/>
            <a:ahLst/>
            <a:cxnLst/>
            <a:rect r="r" b="b" t="t" l="l"/>
            <a:pathLst>
              <a:path h="2359787" w="4536092">
                <a:moveTo>
                  <a:pt x="0" y="0"/>
                </a:moveTo>
                <a:lnTo>
                  <a:pt x="4536092" y="0"/>
                </a:lnTo>
                <a:lnTo>
                  <a:pt x="4536092" y="2359787"/>
                </a:lnTo>
                <a:lnTo>
                  <a:pt x="0" y="23597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4874073" y="2232221"/>
            <a:ext cx="12779850" cy="7006194"/>
          </a:xfrm>
          <a:prstGeom prst="rect">
            <a:avLst/>
          </a:prstGeom>
        </p:spPr>
        <p:txBody>
          <a:bodyPr anchor="t" rtlCol="false" tIns="0" lIns="0" bIns="0" rIns="0">
            <a:spAutoFit/>
          </a:bodyPr>
          <a:lstStyle/>
          <a:p>
            <a:pPr algn="l" marL="659924" indent="-329962" lvl="1">
              <a:lnSpc>
                <a:spcPts val="4279"/>
              </a:lnSpc>
              <a:buFont typeface="Arial"/>
              <a:buChar char="•"/>
            </a:pPr>
            <a:r>
              <a:rPr lang="en-US" sz="3056" spc="241">
                <a:solidFill>
                  <a:srgbClr val="FFFFFF"/>
                </a:solidFill>
                <a:latin typeface="Pattanakarn"/>
                <a:ea typeface="Pattanakarn"/>
                <a:cs typeface="Pattanakarn"/>
                <a:sym typeface="Pattanakarn"/>
              </a:rPr>
              <a:t>Pulau Jawa memiliki potensi pariwisata yang masif, memicu kendala kebingungan pilihan (information overload) bagi wisatawan.</a:t>
            </a:r>
          </a:p>
          <a:p>
            <a:pPr algn="l" marL="659924" indent="-329962" lvl="1">
              <a:lnSpc>
                <a:spcPts val="4279"/>
              </a:lnSpc>
              <a:buFont typeface="Arial"/>
              <a:buChar char="•"/>
            </a:pPr>
            <a:r>
              <a:rPr lang="en-US" sz="3056" spc="241">
                <a:solidFill>
                  <a:srgbClr val="FFFFFF"/>
                </a:solidFill>
                <a:latin typeface="Pattanakarn"/>
                <a:ea typeface="Pattanakarn"/>
                <a:cs typeface="Pattanakarn"/>
                <a:sym typeface="Pattanakarn"/>
              </a:rPr>
              <a:t>Limpahan User-Generated Content (Ulasan &amp; Rating di Google Maps) belum diolah maksimal untuk menghasilkan insight terstruktur.</a:t>
            </a:r>
          </a:p>
          <a:p>
            <a:pPr algn="l" marL="659924" indent="-329962" lvl="1">
              <a:lnSpc>
                <a:spcPts val="4279"/>
              </a:lnSpc>
              <a:buFont typeface="Arial"/>
              <a:buChar char="•"/>
            </a:pPr>
            <a:r>
              <a:rPr lang="en-US" sz="3056" spc="241">
                <a:solidFill>
                  <a:srgbClr val="FFFFFF"/>
                </a:solidFill>
                <a:latin typeface="Pattanakarn"/>
                <a:ea typeface="Pattanakarn"/>
                <a:cs typeface="Pattanakarn"/>
                <a:sym typeface="Pattanakarn"/>
              </a:rPr>
              <a:t>Ketimpangan potensi antar daerah pariwisata di mana fasilitas sering tidak berbanding lurus dengan tingkat kunjungan.</a:t>
            </a:r>
          </a:p>
          <a:p>
            <a:pPr algn="l" marL="659924" indent="-329962" lvl="1">
              <a:lnSpc>
                <a:spcPts val="4279"/>
              </a:lnSpc>
              <a:buFont typeface="Arial"/>
              <a:buChar char="•"/>
            </a:pPr>
            <a:r>
              <a:rPr lang="en-US" sz="3056" spc="241">
                <a:solidFill>
                  <a:srgbClr val="FFFFFF"/>
                </a:solidFill>
                <a:latin typeface="Pattanakarn"/>
                <a:ea typeface="Pattanakarn"/>
                <a:cs typeface="Pattanakarn"/>
                <a:sym typeface="Pattanakarn"/>
              </a:rPr>
              <a:t>Sistem rekomendasi konvensional (Collaborative Filtering) rentan terhadap masalah cold-start pada data berskala besar.</a:t>
            </a:r>
          </a:p>
          <a:p>
            <a:pPr algn="l">
              <a:lnSpc>
                <a:spcPts val="4279"/>
              </a:lnSpc>
            </a:pP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4871726" y="7283529"/>
            <a:ext cx="2387574" cy="1532388"/>
          </a:xfrm>
          <a:custGeom>
            <a:avLst/>
            <a:gdLst/>
            <a:ahLst/>
            <a:cxnLst/>
            <a:rect r="r" b="b" t="t" l="l"/>
            <a:pathLst>
              <a:path h="1532388" w="2387574">
                <a:moveTo>
                  <a:pt x="0" y="0"/>
                </a:moveTo>
                <a:lnTo>
                  <a:pt x="2387574" y="0"/>
                </a:lnTo>
                <a:lnTo>
                  <a:pt x="2387574" y="1532388"/>
                </a:lnTo>
                <a:lnTo>
                  <a:pt x="0" y="1532388"/>
                </a:lnTo>
                <a:lnTo>
                  <a:pt x="0" y="0"/>
                </a:lnTo>
                <a:close/>
              </a:path>
            </a:pathLst>
          </a:custGeom>
          <a:blipFill>
            <a:blip r:embed="rId2"/>
            <a:stretch>
              <a:fillRect l="0" t="0" r="0" b="0"/>
            </a:stretch>
          </a:blipFill>
        </p:spPr>
      </p:sp>
      <p:sp>
        <p:nvSpPr>
          <p:cNvPr name="Freeform 3" id="3"/>
          <p:cNvSpPr/>
          <p:nvPr/>
        </p:nvSpPr>
        <p:spPr>
          <a:xfrm flipH="false" flipV="false" rot="0">
            <a:off x="12240394" y="3112893"/>
            <a:ext cx="5847388" cy="5216468"/>
          </a:xfrm>
          <a:custGeom>
            <a:avLst/>
            <a:gdLst/>
            <a:ahLst/>
            <a:cxnLst/>
            <a:rect r="r" b="b" t="t" l="l"/>
            <a:pathLst>
              <a:path h="5216468" w="5847388">
                <a:moveTo>
                  <a:pt x="0" y="0"/>
                </a:moveTo>
                <a:lnTo>
                  <a:pt x="5847388" y="0"/>
                </a:lnTo>
                <a:lnTo>
                  <a:pt x="5847388" y="5216469"/>
                </a:lnTo>
                <a:lnTo>
                  <a:pt x="0" y="52164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772363" y="2392930"/>
            <a:ext cx="2965504" cy="1903314"/>
          </a:xfrm>
          <a:custGeom>
            <a:avLst/>
            <a:gdLst/>
            <a:ahLst/>
            <a:cxnLst/>
            <a:rect r="r" b="b" t="t" l="l"/>
            <a:pathLst>
              <a:path h="1903314" w="2965504">
                <a:moveTo>
                  <a:pt x="0" y="0"/>
                </a:moveTo>
                <a:lnTo>
                  <a:pt x="2965504" y="0"/>
                </a:lnTo>
                <a:lnTo>
                  <a:pt x="2965504" y="1903314"/>
                </a:lnTo>
                <a:lnTo>
                  <a:pt x="0" y="1903314"/>
                </a:lnTo>
                <a:lnTo>
                  <a:pt x="0" y="0"/>
                </a:lnTo>
                <a:close/>
              </a:path>
            </a:pathLst>
          </a:custGeom>
          <a:blipFill>
            <a:blip r:embed="rId2"/>
            <a:stretch>
              <a:fillRect l="0" t="0" r="0" b="0"/>
            </a:stretch>
          </a:blipFill>
        </p:spPr>
      </p:sp>
      <p:sp>
        <p:nvSpPr>
          <p:cNvPr name="Freeform 5" id="5"/>
          <p:cNvSpPr/>
          <p:nvPr/>
        </p:nvSpPr>
        <p:spPr>
          <a:xfrm flipH="false" flipV="false" rot="0">
            <a:off x="13499490" y="2510395"/>
            <a:ext cx="1511251" cy="1562383"/>
          </a:xfrm>
          <a:custGeom>
            <a:avLst/>
            <a:gdLst/>
            <a:ahLst/>
            <a:cxnLst/>
            <a:rect r="r" b="b" t="t" l="l"/>
            <a:pathLst>
              <a:path h="1562383" w="1511251">
                <a:moveTo>
                  <a:pt x="0" y="0"/>
                </a:moveTo>
                <a:lnTo>
                  <a:pt x="1511251" y="0"/>
                </a:lnTo>
                <a:lnTo>
                  <a:pt x="1511251" y="1562383"/>
                </a:lnTo>
                <a:lnTo>
                  <a:pt x="0" y="15623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8188939">
            <a:off x="-1472182" y="-461536"/>
            <a:ext cx="2944364" cy="1531731"/>
          </a:xfrm>
          <a:custGeom>
            <a:avLst/>
            <a:gdLst/>
            <a:ahLst/>
            <a:cxnLst/>
            <a:rect r="r" b="b" t="t" l="l"/>
            <a:pathLst>
              <a:path h="1531731" w="2944364">
                <a:moveTo>
                  <a:pt x="0" y="0"/>
                </a:moveTo>
                <a:lnTo>
                  <a:pt x="2944364" y="0"/>
                </a:lnTo>
                <a:lnTo>
                  <a:pt x="2944364" y="1531731"/>
                </a:lnTo>
                <a:lnTo>
                  <a:pt x="0" y="15317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6543478" y="287005"/>
            <a:ext cx="6242122" cy="679450"/>
          </a:xfrm>
          <a:prstGeom prst="rect">
            <a:avLst/>
          </a:prstGeom>
        </p:spPr>
        <p:txBody>
          <a:bodyPr anchor="t" rtlCol="false" tIns="0" lIns="0" bIns="0" rIns="0">
            <a:spAutoFit/>
          </a:bodyPr>
          <a:lstStyle/>
          <a:p>
            <a:pPr algn="ctr">
              <a:lnSpc>
                <a:spcPts val="5000"/>
              </a:lnSpc>
            </a:pPr>
            <a:r>
              <a:rPr lang="en-US" b="true" sz="5000" spc="140">
                <a:solidFill>
                  <a:srgbClr val="FFFFFF"/>
                </a:solidFill>
                <a:latin typeface="Tomorrow Bold"/>
                <a:ea typeface="Tomorrow Bold"/>
                <a:cs typeface="Tomorrow Bold"/>
                <a:sym typeface="Tomorrow Bold"/>
              </a:rPr>
              <a:t>Tujuan Penelitian</a:t>
            </a:r>
          </a:p>
        </p:txBody>
      </p:sp>
      <p:sp>
        <p:nvSpPr>
          <p:cNvPr name="TextBox 8" id="8"/>
          <p:cNvSpPr txBox="true"/>
          <p:nvPr/>
        </p:nvSpPr>
        <p:spPr>
          <a:xfrm rot="0">
            <a:off x="15293488" y="7703410"/>
            <a:ext cx="1586091" cy="625929"/>
          </a:xfrm>
          <a:prstGeom prst="rect">
            <a:avLst/>
          </a:prstGeom>
        </p:spPr>
        <p:txBody>
          <a:bodyPr anchor="t" rtlCol="false" tIns="0" lIns="0" bIns="0" rIns="0">
            <a:spAutoFit/>
          </a:bodyPr>
          <a:lstStyle/>
          <a:p>
            <a:pPr algn="ctr">
              <a:lnSpc>
                <a:spcPts val="5163"/>
              </a:lnSpc>
            </a:pPr>
            <a:r>
              <a:rPr lang="en-US" sz="3688">
                <a:solidFill>
                  <a:srgbClr val="FFFFFF"/>
                </a:solidFill>
                <a:latin typeface="Pattanakarn"/>
                <a:ea typeface="Pattanakarn"/>
                <a:cs typeface="Pattanakarn"/>
                <a:sym typeface="Pattanakarn"/>
              </a:rPr>
              <a:t>Data</a:t>
            </a:r>
          </a:p>
        </p:txBody>
      </p:sp>
      <p:sp>
        <p:nvSpPr>
          <p:cNvPr name="Freeform 9" id="9"/>
          <p:cNvSpPr/>
          <p:nvPr/>
        </p:nvSpPr>
        <p:spPr>
          <a:xfrm flipH="false" flipV="false" rot="0">
            <a:off x="1018672" y="1223630"/>
            <a:ext cx="9197279" cy="4135914"/>
          </a:xfrm>
          <a:custGeom>
            <a:avLst/>
            <a:gdLst/>
            <a:ahLst/>
            <a:cxnLst/>
            <a:rect r="r" b="b" t="t" l="l"/>
            <a:pathLst>
              <a:path h="4135914" w="9197279">
                <a:moveTo>
                  <a:pt x="0" y="0"/>
                </a:moveTo>
                <a:lnTo>
                  <a:pt x="9197279" y="0"/>
                </a:lnTo>
                <a:lnTo>
                  <a:pt x="9197279" y="4135914"/>
                </a:lnTo>
                <a:lnTo>
                  <a:pt x="0" y="4135914"/>
                </a:lnTo>
                <a:lnTo>
                  <a:pt x="0" y="0"/>
                </a:lnTo>
                <a:close/>
              </a:path>
            </a:pathLst>
          </a:custGeom>
          <a:blipFill>
            <a:blip r:embed="rId2"/>
            <a:stretch>
              <a:fillRect l="0" t="-21362" r="0" b="-21362"/>
            </a:stretch>
          </a:blipFill>
        </p:spPr>
      </p:sp>
      <p:sp>
        <p:nvSpPr>
          <p:cNvPr name="TextBox 10" id="10"/>
          <p:cNvSpPr txBox="true"/>
          <p:nvPr/>
        </p:nvSpPr>
        <p:spPr>
          <a:xfrm rot="0">
            <a:off x="1271644" y="1345590"/>
            <a:ext cx="8691334" cy="619405"/>
          </a:xfrm>
          <a:prstGeom prst="rect">
            <a:avLst/>
          </a:prstGeom>
        </p:spPr>
        <p:txBody>
          <a:bodyPr anchor="t" rtlCol="false" tIns="0" lIns="0" bIns="0" rIns="0">
            <a:spAutoFit/>
          </a:bodyPr>
          <a:lstStyle/>
          <a:p>
            <a:pPr algn="ctr">
              <a:lnSpc>
                <a:spcPts val="5077"/>
              </a:lnSpc>
            </a:pPr>
            <a:r>
              <a:rPr lang="en-US" sz="3626" b="true">
                <a:solidFill>
                  <a:srgbClr val="FFFFFF"/>
                </a:solidFill>
                <a:latin typeface="Pattanakarn Bold"/>
                <a:ea typeface="Pattanakarn Bold"/>
                <a:cs typeface="Pattanakarn Bold"/>
                <a:sym typeface="Pattanakarn Bold"/>
              </a:rPr>
              <a:t> Segmentasi Otomatis (K-Means)</a:t>
            </a:r>
          </a:p>
        </p:txBody>
      </p:sp>
      <p:sp>
        <p:nvSpPr>
          <p:cNvPr name="TextBox 11" id="11"/>
          <p:cNvSpPr txBox="true"/>
          <p:nvPr/>
        </p:nvSpPr>
        <p:spPr>
          <a:xfrm rot="0">
            <a:off x="2137108" y="2345305"/>
            <a:ext cx="6960407" cy="2497242"/>
          </a:xfrm>
          <a:prstGeom prst="rect">
            <a:avLst/>
          </a:prstGeom>
        </p:spPr>
        <p:txBody>
          <a:bodyPr anchor="t" rtlCol="false" tIns="0" lIns="0" bIns="0" rIns="0">
            <a:spAutoFit/>
          </a:bodyPr>
          <a:lstStyle/>
          <a:p>
            <a:pPr algn="ctr">
              <a:lnSpc>
                <a:spcPts val="3342"/>
              </a:lnSpc>
            </a:pPr>
            <a:r>
              <a:rPr lang="en-US" sz="2387" spc="188">
                <a:solidFill>
                  <a:srgbClr val="FFFFFF"/>
                </a:solidFill>
                <a:latin typeface="Pattanakarn"/>
                <a:ea typeface="Pattanakarn"/>
                <a:cs typeface="Pattanakarn"/>
                <a:sym typeface="Pattanakarn"/>
              </a:rPr>
              <a:t>Mengelompokkan ratusan destinasi wisata di Pulau Jawa secara komputasional ke dalam beberapa kategori bermakna (misal: Niche, Populer Sedang, Populer Tinggi) menggunakan metrik ulasan dan rating.</a:t>
            </a:r>
          </a:p>
        </p:txBody>
      </p:sp>
      <p:sp>
        <p:nvSpPr>
          <p:cNvPr name="Freeform 12" id="12"/>
          <p:cNvSpPr/>
          <p:nvPr/>
        </p:nvSpPr>
        <p:spPr>
          <a:xfrm flipH="false" flipV="false" rot="0">
            <a:off x="1018672" y="5886697"/>
            <a:ext cx="9197279" cy="4135914"/>
          </a:xfrm>
          <a:custGeom>
            <a:avLst/>
            <a:gdLst/>
            <a:ahLst/>
            <a:cxnLst/>
            <a:rect r="r" b="b" t="t" l="l"/>
            <a:pathLst>
              <a:path h="4135914" w="9197279">
                <a:moveTo>
                  <a:pt x="0" y="0"/>
                </a:moveTo>
                <a:lnTo>
                  <a:pt x="9197279" y="0"/>
                </a:lnTo>
                <a:lnTo>
                  <a:pt x="9197279" y="4135914"/>
                </a:lnTo>
                <a:lnTo>
                  <a:pt x="0" y="4135914"/>
                </a:lnTo>
                <a:lnTo>
                  <a:pt x="0" y="0"/>
                </a:lnTo>
                <a:close/>
              </a:path>
            </a:pathLst>
          </a:custGeom>
          <a:blipFill>
            <a:blip r:embed="rId2"/>
            <a:stretch>
              <a:fillRect l="0" t="-21362" r="0" b="-21362"/>
            </a:stretch>
          </a:blipFill>
        </p:spPr>
      </p:sp>
      <p:sp>
        <p:nvSpPr>
          <p:cNvPr name="TextBox 13" id="13"/>
          <p:cNvSpPr txBox="true"/>
          <p:nvPr/>
        </p:nvSpPr>
        <p:spPr>
          <a:xfrm rot="0">
            <a:off x="1409125" y="5988194"/>
            <a:ext cx="8416373" cy="658882"/>
          </a:xfrm>
          <a:prstGeom prst="rect">
            <a:avLst/>
          </a:prstGeom>
        </p:spPr>
        <p:txBody>
          <a:bodyPr anchor="t" rtlCol="false" tIns="0" lIns="0" bIns="0" rIns="0">
            <a:spAutoFit/>
          </a:bodyPr>
          <a:lstStyle/>
          <a:p>
            <a:pPr algn="ctr">
              <a:lnSpc>
                <a:spcPts val="5352"/>
              </a:lnSpc>
            </a:pPr>
            <a:r>
              <a:rPr lang="en-US" sz="3823" b="true">
                <a:solidFill>
                  <a:srgbClr val="FFFFFF"/>
                </a:solidFill>
                <a:latin typeface="Pattanakarn Bold"/>
                <a:ea typeface="Pattanakarn Bold"/>
                <a:cs typeface="Pattanakarn Bold"/>
                <a:sym typeface="Pattanakarn Bold"/>
              </a:rPr>
              <a:t>Sistem Rekomendasi Cerdas</a:t>
            </a:r>
          </a:p>
        </p:txBody>
      </p:sp>
      <p:sp>
        <p:nvSpPr>
          <p:cNvPr name="TextBox 14" id="14"/>
          <p:cNvSpPr txBox="true"/>
          <p:nvPr/>
        </p:nvSpPr>
        <p:spPr>
          <a:xfrm rot="0">
            <a:off x="1570084" y="6856626"/>
            <a:ext cx="8094455" cy="2841679"/>
          </a:xfrm>
          <a:prstGeom prst="rect">
            <a:avLst/>
          </a:prstGeom>
        </p:spPr>
        <p:txBody>
          <a:bodyPr anchor="t" rtlCol="false" tIns="0" lIns="0" bIns="0" rIns="0">
            <a:spAutoFit/>
          </a:bodyPr>
          <a:lstStyle/>
          <a:p>
            <a:pPr algn="ctr">
              <a:lnSpc>
                <a:spcPts val="3811"/>
              </a:lnSpc>
            </a:pPr>
            <a:r>
              <a:rPr lang="en-US" sz="2722" spc="215">
                <a:solidFill>
                  <a:srgbClr val="FFFFFF"/>
                </a:solidFill>
                <a:latin typeface="Pattanakarn"/>
                <a:ea typeface="Pattanakarn"/>
                <a:cs typeface="Pattanakarn"/>
                <a:sym typeface="Pattanakarn"/>
              </a:rPr>
              <a:t>Menghasilkan mesin rekomendasi pariwisata akurat yang memanfaatkan profil dan karakteristik dari cluster yang telah terbentuk sebagai knowledge base, mengatasi limitasi metode konvensional.</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2384562" y="174357"/>
            <a:ext cx="7315200" cy="2222635"/>
          </a:xfrm>
          <a:custGeom>
            <a:avLst/>
            <a:gdLst/>
            <a:ahLst/>
            <a:cxnLst/>
            <a:rect r="r" b="b" t="t" l="l"/>
            <a:pathLst>
              <a:path h="2222635" w="7315200">
                <a:moveTo>
                  <a:pt x="0" y="0"/>
                </a:moveTo>
                <a:lnTo>
                  <a:pt x="7315200" y="0"/>
                </a:lnTo>
                <a:lnTo>
                  <a:pt x="7315200" y="2222635"/>
                </a:lnTo>
                <a:lnTo>
                  <a:pt x="0" y="2222635"/>
                </a:lnTo>
                <a:lnTo>
                  <a:pt x="0" y="0"/>
                </a:lnTo>
                <a:close/>
              </a:path>
            </a:pathLst>
          </a:custGeom>
          <a:blipFill>
            <a:blip r:embed="rId2">
              <a:alphaModFix amt="6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78888" y="63732"/>
            <a:ext cx="16027904" cy="10287000"/>
          </a:xfrm>
          <a:custGeom>
            <a:avLst/>
            <a:gdLst/>
            <a:ahLst/>
            <a:cxnLst/>
            <a:rect r="r" b="b" t="t" l="l"/>
            <a:pathLst>
              <a:path h="10287000" w="16027904">
                <a:moveTo>
                  <a:pt x="0" y="0"/>
                </a:moveTo>
                <a:lnTo>
                  <a:pt x="16027904" y="0"/>
                </a:lnTo>
                <a:lnTo>
                  <a:pt x="16027904" y="10287000"/>
                </a:lnTo>
                <a:lnTo>
                  <a:pt x="0" y="10287000"/>
                </a:lnTo>
                <a:lnTo>
                  <a:pt x="0" y="0"/>
                </a:lnTo>
                <a:close/>
              </a:path>
            </a:pathLst>
          </a:custGeom>
          <a:blipFill>
            <a:blip r:embed="rId4"/>
            <a:stretch>
              <a:fillRect l="0" t="0" r="0" b="0"/>
            </a:stretch>
          </a:blipFill>
        </p:spPr>
      </p:sp>
      <p:sp>
        <p:nvSpPr>
          <p:cNvPr name="Freeform 4" id="4"/>
          <p:cNvSpPr/>
          <p:nvPr/>
        </p:nvSpPr>
        <p:spPr>
          <a:xfrm flipH="false" flipV="false" rot="0">
            <a:off x="1529809" y="3086100"/>
            <a:ext cx="3887457" cy="4242264"/>
          </a:xfrm>
          <a:custGeom>
            <a:avLst/>
            <a:gdLst/>
            <a:ahLst/>
            <a:cxnLst/>
            <a:rect r="r" b="b" t="t" l="l"/>
            <a:pathLst>
              <a:path h="4242264" w="3887457">
                <a:moveTo>
                  <a:pt x="0" y="0"/>
                </a:moveTo>
                <a:lnTo>
                  <a:pt x="3887457" y="0"/>
                </a:lnTo>
                <a:lnTo>
                  <a:pt x="3887457" y="4242264"/>
                </a:lnTo>
                <a:lnTo>
                  <a:pt x="0" y="42422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10800000">
            <a:off x="15708252" y="7867217"/>
            <a:ext cx="3550441" cy="3421334"/>
          </a:xfrm>
          <a:custGeom>
            <a:avLst/>
            <a:gdLst/>
            <a:ahLst/>
            <a:cxnLst/>
            <a:rect r="r" b="b" t="t" l="l"/>
            <a:pathLst>
              <a:path h="3421334" w="3550441">
                <a:moveTo>
                  <a:pt x="3550442" y="0"/>
                </a:moveTo>
                <a:lnTo>
                  <a:pt x="0" y="0"/>
                </a:lnTo>
                <a:lnTo>
                  <a:pt x="0" y="3421334"/>
                </a:lnTo>
                <a:lnTo>
                  <a:pt x="3550442" y="3421334"/>
                </a:lnTo>
                <a:lnTo>
                  <a:pt x="3550442" y="0"/>
                </a:lnTo>
                <a:close/>
              </a:path>
            </a:pathLst>
          </a:custGeom>
          <a:blipFill>
            <a:blip r:embed="rId7">
              <a:alphaModFix amt="29000"/>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6143824" y="495301"/>
            <a:ext cx="6242122" cy="1308232"/>
          </a:xfrm>
          <a:prstGeom prst="rect">
            <a:avLst/>
          </a:prstGeom>
        </p:spPr>
        <p:txBody>
          <a:bodyPr anchor="t" rtlCol="false" tIns="0" lIns="0" bIns="0" rIns="0">
            <a:spAutoFit/>
          </a:bodyPr>
          <a:lstStyle/>
          <a:p>
            <a:pPr algn="r">
              <a:lnSpc>
                <a:spcPts val="5000"/>
              </a:lnSpc>
            </a:pPr>
            <a:r>
              <a:rPr lang="en-US" b="true" sz="5000" spc="140">
                <a:solidFill>
                  <a:srgbClr val="FFFFFF"/>
                </a:solidFill>
                <a:latin typeface="Tomorrow Bold"/>
                <a:ea typeface="Tomorrow Bold"/>
                <a:cs typeface="Tomorrow Bold"/>
                <a:sym typeface="Tomorrow Bold"/>
              </a:rPr>
              <a:t>Manfaat Penelitian</a:t>
            </a:r>
          </a:p>
        </p:txBody>
      </p:sp>
      <p:sp>
        <p:nvSpPr>
          <p:cNvPr name="Freeform 7" id="7"/>
          <p:cNvSpPr/>
          <p:nvPr/>
        </p:nvSpPr>
        <p:spPr>
          <a:xfrm flipH="false" flipV="false" rot="0">
            <a:off x="14961732" y="-2168506"/>
            <a:ext cx="5043482" cy="5175215"/>
          </a:xfrm>
          <a:custGeom>
            <a:avLst/>
            <a:gdLst/>
            <a:ahLst/>
            <a:cxnLst/>
            <a:rect r="r" b="b" t="t" l="l"/>
            <a:pathLst>
              <a:path h="5175215" w="5043482">
                <a:moveTo>
                  <a:pt x="0" y="0"/>
                </a:moveTo>
                <a:lnTo>
                  <a:pt x="5043482" y="0"/>
                </a:lnTo>
                <a:lnTo>
                  <a:pt x="5043482" y="5175215"/>
                </a:lnTo>
                <a:lnTo>
                  <a:pt x="0" y="5175215"/>
                </a:lnTo>
                <a:lnTo>
                  <a:pt x="0" y="0"/>
                </a:lnTo>
                <a:close/>
              </a:path>
            </a:pathLst>
          </a:custGeom>
          <a:blipFill>
            <a:blip r:embed="rId9">
              <a:alphaModFix amt="12000"/>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6770015" y="1946775"/>
            <a:ext cx="9675391" cy="1663126"/>
          </a:xfrm>
          <a:prstGeom prst="rect">
            <a:avLst/>
          </a:prstGeom>
        </p:spPr>
        <p:txBody>
          <a:bodyPr anchor="t" rtlCol="false" tIns="0" lIns="0" bIns="0" rIns="0">
            <a:spAutoFit/>
          </a:bodyPr>
          <a:lstStyle/>
          <a:p>
            <a:pPr algn="just" marL="515389" indent="-257695" lvl="1">
              <a:lnSpc>
                <a:spcPts val="3342"/>
              </a:lnSpc>
              <a:buFont typeface="Arial"/>
              <a:buChar char="•"/>
            </a:pPr>
            <a:r>
              <a:rPr lang="en-US" sz="2387" spc="188">
                <a:solidFill>
                  <a:srgbClr val="FFFFFF"/>
                </a:solidFill>
                <a:latin typeface="Pattanakarn"/>
                <a:ea typeface="Pattanakarn"/>
                <a:cs typeface="Pattanakarn"/>
                <a:sym typeface="Pattanakarn"/>
              </a:rPr>
              <a:t>Membantu wisatawan dalam mengurangi waktu perencanaan dalam memilih rute di Pulau Jawa, melalui integrasi sistem rekomendasi objek wisata berbasis data real - time.</a:t>
            </a:r>
          </a:p>
        </p:txBody>
      </p:sp>
      <p:sp>
        <p:nvSpPr>
          <p:cNvPr name="TextBox 9" id="9"/>
          <p:cNvSpPr txBox="true"/>
          <p:nvPr/>
        </p:nvSpPr>
        <p:spPr>
          <a:xfrm rot="0">
            <a:off x="6770015" y="4497641"/>
            <a:ext cx="9675391" cy="1244093"/>
          </a:xfrm>
          <a:prstGeom prst="rect">
            <a:avLst/>
          </a:prstGeom>
        </p:spPr>
        <p:txBody>
          <a:bodyPr anchor="t" rtlCol="false" tIns="0" lIns="0" bIns="0" rIns="0">
            <a:spAutoFit/>
          </a:bodyPr>
          <a:lstStyle/>
          <a:p>
            <a:pPr algn="just" marL="515389" indent="-257695" lvl="1">
              <a:lnSpc>
                <a:spcPts val="3342"/>
              </a:lnSpc>
              <a:buFont typeface="Arial"/>
              <a:buChar char="•"/>
            </a:pPr>
            <a:r>
              <a:rPr lang="en-US" sz="2387" spc="188">
                <a:solidFill>
                  <a:srgbClr val="FFFFFF"/>
                </a:solidFill>
                <a:latin typeface="Pattanakarn"/>
                <a:ea typeface="Pattanakarn"/>
                <a:cs typeface="Pattanakarn"/>
                <a:sym typeface="Pattanakarn"/>
              </a:rPr>
              <a:t>Menyediakan saran destinasi wisata yang objektif dan terukur bagi pengguna berdasarkan pengolahan data berupa ulasan, &amp; nilai rating.</a:t>
            </a:r>
          </a:p>
        </p:txBody>
      </p:sp>
      <p:sp>
        <p:nvSpPr>
          <p:cNvPr name="TextBox 10" id="10"/>
          <p:cNvSpPr txBox="true"/>
          <p:nvPr/>
        </p:nvSpPr>
        <p:spPr>
          <a:xfrm rot="0">
            <a:off x="6770015" y="6623125"/>
            <a:ext cx="9675391" cy="1244093"/>
          </a:xfrm>
          <a:prstGeom prst="rect">
            <a:avLst/>
          </a:prstGeom>
        </p:spPr>
        <p:txBody>
          <a:bodyPr anchor="t" rtlCol="false" tIns="0" lIns="0" bIns="0" rIns="0">
            <a:spAutoFit/>
          </a:bodyPr>
          <a:lstStyle/>
          <a:p>
            <a:pPr algn="just" marL="515389" indent="-257695" lvl="1">
              <a:lnSpc>
                <a:spcPts val="3342"/>
              </a:lnSpc>
              <a:buFont typeface="Arial"/>
              <a:buChar char="•"/>
            </a:pPr>
            <a:r>
              <a:rPr lang="en-US" sz="2387" spc="188">
                <a:solidFill>
                  <a:srgbClr val="FFFFFF"/>
                </a:solidFill>
                <a:latin typeface="Pattanakarn"/>
                <a:ea typeface="Pattanakarn"/>
                <a:cs typeface="Pattanakarn"/>
                <a:sym typeface="Pattanakarn"/>
              </a:rPr>
              <a:t>Memberikan kontribusi ilmiah dalam pengembangan sistem rekomendasi wilayah berbasis integrasi data spasial dan popularitas</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TextBox 2" id="2"/>
          <p:cNvSpPr txBox="true"/>
          <p:nvPr/>
        </p:nvSpPr>
        <p:spPr>
          <a:xfrm rot="0">
            <a:off x="3356406" y="536327"/>
            <a:ext cx="11575188" cy="679450"/>
          </a:xfrm>
          <a:prstGeom prst="rect">
            <a:avLst/>
          </a:prstGeom>
        </p:spPr>
        <p:txBody>
          <a:bodyPr anchor="t" rtlCol="false" tIns="0" lIns="0" bIns="0" rIns="0">
            <a:spAutoFit/>
          </a:bodyPr>
          <a:lstStyle/>
          <a:p>
            <a:pPr algn="ctr">
              <a:lnSpc>
                <a:spcPts val="5000"/>
              </a:lnSpc>
            </a:pPr>
            <a:r>
              <a:rPr lang="en-US" b="true" sz="5000" spc="140">
                <a:solidFill>
                  <a:srgbClr val="FFFFFF"/>
                </a:solidFill>
                <a:latin typeface="Tomorrow Bold"/>
                <a:ea typeface="Tomorrow Bold"/>
                <a:cs typeface="Tomorrow Bold"/>
                <a:sym typeface="Tomorrow Bold"/>
              </a:rPr>
              <a:t>Alur Metodologi: CRISP-DM</a:t>
            </a:r>
          </a:p>
        </p:txBody>
      </p:sp>
      <p:sp>
        <p:nvSpPr>
          <p:cNvPr name="Freeform 3" id="3"/>
          <p:cNvSpPr/>
          <p:nvPr/>
        </p:nvSpPr>
        <p:spPr>
          <a:xfrm flipH="false" flipV="false" rot="0">
            <a:off x="14931594" y="-2127481"/>
            <a:ext cx="5043482" cy="5175215"/>
          </a:xfrm>
          <a:custGeom>
            <a:avLst/>
            <a:gdLst/>
            <a:ahLst/>
            <a:cxnLst/>
            <a:rect r="r" b="b" t="t" l="l"/>
            <a:pathLst>
              <a:path h="5175215" w="5043482">
                <a:moveTo>
                  <a:pt x="0" y="0"/>
                </a:moveTo>
                <a:lnTo>
                  <a:pt x="5043482" y="0"/>
                </a:lnTo>
                <a:lnTo>
                  <a:pt x="5043482" y="5175215"/>
                </a:lnTo>
                <a:lnTo>
                  <a:pt x="0" y="5175215"/>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133224" y="-1049885"/>
            <a:ext cx="3550441" cy="3421334"/>
          </a:xfrm>
          <a:custGeom>
            <a:avLst/>
            <a:gdLst/>
            <a:ahLst/>
            <a:cxnLst/>
            <a:rect r="r" b="b" t="t" l="l"/>
            <a:pathLst>
              <a:path h="3421334" w="3550441">
                <a:moveTo>
                  <a:pt x="3550441" y="0"/>
                </a:moveTo>
                <a:lnTo>
                  <a:pt x="0" y="0"/>
                </a:lnTo>
                <a:lnTo>
                  <a:pt x="0" y="3421334"/>
                </a:lnTo>
                <a:lnTo>
                  <a:pt x="3550441" y="3421334"/>
                </a:lnTo>
                <a:lnTo>
                  <a:pt x="3550441"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378986" y="2263055"/>
            <a:ext cx="5031459" cy="3586371"/>
            <a:chOff x="0" y="0"/>
            <a:chExt cx="6708611" cy="4781828"/>
          </a:xfrm>
        </p:grpSpPr>
        <p:sp>
          <p:nvSpPr>
            <p:cNvPr name="Freeform 6" id="6"/>
            <p:cNvSpPr/>
            <p:nvPr/>
          </p:nvSpPr>
          <p:spPr>
            <a:xfrm flipH="false" flipV="false" rot="0">
              <a:off x="0" y="0"/>
              <a:ext cx="6708611" cy="4781828"/>
            </a:xfrm>
            <a:custGeom>
              <a:avLst/>
              <a:gdLst/>
              <a:ahLst/>
              <a:cxnLst/>
              <a:rect r="r" b="b" t="t" l="l"/>
              <a:pathLst>
                <a:path h="4781828" w="6708611">
                  <a:moveTo>
                    <a:pt x="0" y="0"/>
                  </a:moveTo>
                  <a:lnTo>
                    <a:pt x="6708611" y="0"/>
                  </a:lnTo>
                  <a:lnTo>
                    <a:pt x="6708611" y="4781828"/>
                  </a:lnTo>
                  <a:lnTo>
                    <a:pt x="0" y="4781828"/>
                  </a:lnTo>
                  <a:lnTo>
                    <a:pt x="0" y="0"/>
                  </a:lnTo>
                  <a:close/>
                </a:path>
              </a:pathLst>
            </a:custGeom>
            <a:blipFill>
              <a:blip r:embed="rId6"/>
              <a:stretch>
                <a:fillRect l="-5528" t="0" r="-5528" b="0"/>
              </a:stretch>
            </a:blipFill>
          </p:spPr>
        </p:sp>
        <p:sp>
          <p:nvSpPr>
            <p:cNvPr name="TextBox 7" id="7"/>
            <p:cNvSpPr txBox="true"/>
            <p:nvPr/>
          </p:nvSpPr>
          <p:spPr>
            <a:xfrm rot="0">
              <a:off x="9467" y="581571"/>
              <a:ext cx="6699144" cy="648263"/>
            </a:xfrm>
            <a:prstGeom prst="rect">
              <a:avLst/>
            </a:prstGeom>
          </p:spPr>
          <p:txBody>
            <a:bodyPr anchor="t" rtlCol="false" tIns="0" lIns="0" bIns="0" rIns="0">
              <a:spAutoFit/>
            </a:bodyPr>
            <a:lstStyle/>
            <a:p>
              <a:pPr algn="ctr">
                <a:lnSpc>
                  <a:spcPts val="4072"/>
                </a:lnSpc>
              </a:pPr>
              <a:r>
                <a:rPr lang="en-US" sz="2909" b="true">
                  <a:solidFill>
                    <a:srgbClr val="FFFFFF"/>
                  </a:solidFill>
                  <a:latin typeface="Pattanakarn Bold"/>
                  <a:ea typeface="Pattanakarn Bold"/>
                  <a:cs typeface="Pattanakarn Bold"/>
                  <a:sym typeface="Pattanakarn Bold"/>
                </a:rPr>
                <a:t>1. Data Understanding</a:t>
              </a:r>
            </a:p>
          </p:txBody>
        </p:sp>
        <p:sp>
          <p:nvSpPr>
            <p:cNvPr name="TextBox 8" id="8"/>
            <p:cNvSpPr txBox="true"/>
            <p:nvPr/>
          </p:nvSpPr>
          <p:spPr>
            <a:xfrm rot="0">
              <a:off x="605446" y="1832520"/>
              <a:ext cx="5507188" cy="2349693"/>
            </a:xfrm>
            <a:prstGeom prst="rect">
              <a:avLst/>
            </a:prstGeom>
          </p:spPr>
          <p:txBody>
            <a:bodyPr anchor="t" rtlCol="false" tIns="0" lIns="0" bIns="0" rIns="0">
              <a:spAutoFit/>
            </a:bodyPr>
            <a:lstStyle/>
            <a:p>
              <a:pPr algn="ctr">
                <a:lnSpc>
                  <a:spcPts val="2852"/>
                </a:lnSpc>
              </a:pPr>
              <a:r>
                <a:rPr lang="en-US" sz="2037" spc="160">
                  <a:solidFill>
                    <a:srgbClr val="FFFFFF"/>
                  </a:solidFill>
                  <a:latin typeface="Pattanakarn"/>
                  <a:ea typeface="Pattanakarn"/>
                  <a:cs typeface="Pattanakarn"/>
                  <a:sym typeface="Pattanakarn"/>
                </a:rPr>
                <a:t>Ekstraksi &amp; eksplorasi 1090 data POI (Point of Interest) Google Maps dari berbagai kota utama di Pulau Jawa.</a:t>
              </a:r>
            </a:p>
          </p:txBody>
        </p:sp>
      </p:grpSp>
      <p:grpSp>
        <p:nvGrpSpPr>
          <p:cNvPr name="Group 9" id="9"/>
          <p:cNvGrpSpPr/>
          <p:nvPr/>
        </p:nvGrpSpPr>
        <p:grpSpPr>
          <a:xfrm rot="0">
            <a:off x="3872364" y="6420927"/>
            <a:ext cx="5031459" cy="3586371"/>
            <a:chOff x="0" y="0"/>
            <a:chExt cx="6708611" cy="4781828"/>
          </a:xfrm>
        </p:grpSpPr>
        <p:sp>
          <p:nvSpPr>
            <p:cNvPr name="Freeform 10" id="10"/>
            <p:cNvSpPr/>
            <p:nvPr/>
          </p:nvSpPr>
          <p:spPr>
            <a:xfrm flipH="false" flipV="false" rot="0">
              <a:off x="0" y="0"/>
              <a:ext cx="6708611" cy="4781828"/>
            </a:xfrm>
            <a:custGeom>
              <a:avLst/>
              <a:gdLst/>
              <a:ahLst/>
              <a:cxnLst/>
              <a:rect r="r" b="b" t="t" l="l"/>
              <a:pathLst>
                <a:path h="4781828" w="6708611">
                  <a:moveTo>
                    <a:pt x="0" y="0"/>
                  </a:moveTo>
                  <a:lnTo>
                    <a:pt x="6708611" y="0"/>
                  </a:lnTo>
                  <a:lnTo>
                    <a:pt x="6708611" y="4781828"/>
                  </a:lnTo>
                  <a:lnTo>
                    <a:pt x="0" y="4781828"/>
                  </a:lnTo>
                  <a:lnTo>
                    <a:pt x="0" y="0"/>
                  </a:lnTo>
                  <a:close/>
                </a:path>
              </a:pathLst>
            </a:custGeom>
            <a:blipFill>
              <a:blip r:embed="rId6"/>
              <a:stretch>
                <a:fillRect l="-5528" t="0" r="-5528" b="0"/>
              </a:stretch>
            </a:blipFill>
          </p:spPr>
        </p:sp>
        <p:sp>
          <p:nvSpPr>
            <p:cNvPr name="TextBox 11" id="11"/>
            <p:cNvSpPr txBox="true"/>
            <p:nvPr/>
          </p:nvSpPr>
          <p:spPr>
            <a:xfrm rot="0">
              <a:off x="9467" y="581571"/>
              <a:ext cx="6699144" cy="648263"/>
            </a:xfrm>
            <a:prstGeom prst="rect">
              <a:avLst/>
            </a:prstGeom>
          </p:spPr>
          <p:txBody>
            <a:bodyPr anchor="t" rtlCol="false" tIns="0" lIns="0" bIns="0" rIns="0">
              <a:spAutoFit/>
            </a:bodyPr>
            <a:lstStyle/>
            <a:p>
              <a:pPr algn="ctr">
                <a:lnSpc>
                  <a:spcPts val="4072"/>
                </a:lnSpc>
              </a:pPr>
              <a:r>
                <a:rPr lang="en-US" sz="2909" b="true">
                  <a:solidFill>
                    <a:srgbClr val="FFFFFF"/>
                  </a:solidFill>
                  <a:latin typeface="Pattanakarn Bold"/>
                  <a:ea typeface="Pattanakarn Bold"/>
                  <a:cs typeface="Pattanakarn Bold"/>
                  <a:sym typeface="Pattanakarn Bold"/>
                </a:rPr>
                <a:t>2. Preprocessing</a:t>
              </a:r>
            </a:p>
          </p:txBody>
        </p:sp>
        <p:sp>
          <p:nvSpPr>
            <p:cNvPr name="TextBox 12" id="12"/>
            <p:cNvSpPr txBox="true"/>
            <p:nvPr/>
          </p:nvSpPr>
          <p:spPr>
            <a:xfrm rot="0">
              <a:off x="605446" y="1832520"/>
              <a:ext cx="5507188" cy="2349693"/>
            </a:xfrm>
            <a:prstGeom prst="rect">
              <a:avLst/>
            </a:prstGeom>
          </p:spPr>
          <p:txBody>
            <a:bodyPr anchor="t" rtlCol="false" tIns="0" lIns="0" bIns="0" rIns="0">
              <a:spAutoFit/>
            </a:bodyPr>
            <a:lstStyle/>
            <a:p>
              <a:pPr algn="ctr">
                <a:lnSpc>
                  <a:spcPts val="2852"/>
                </a:lnSpc>
              </a:pPr>
              <a:r>
                <a:rPr lang="en-US" sz="2037" spc="160">
                  <a:solidFill>
                    <a:srgbClr val="FFFFFF"/>
                  </a:solidFill>
                  <a:latin typeface="Pattanakarn"/>
                  <a:ea typeface="Pattanakarn"/>
                  <a:cs typeface="Pattanakarn"/>
                  <a:sym typeface="Pattanakarn"/>
                </a:rPr>
                <a:t>Pembersihan missing values, filtering ulasan &gt; 100, dan transformasi matematika (Logaritmik &amp; Scaling).</a:t>
              </a:r>
            </a:p>
          </p:txBody>
        </p:sp>
      </p:grpSp>
      <p:grpSp>
        <p:nvGrpSpPr>
          <p:cNvPr name="Group 13" id="13"/>
          <p:cNvGrpSpPr/>
          <p:nvPr/>
        </p:nvGrpSpPr>
        <p:grpSpPr>
          <a:xfrm rot="0">
            <a:off x="7722500" y="2263055"/>
            <a:ext cx="5031459" cy="3229282"/>
            <a:chOff x="0" y="0"/>
            <a:chExt cx="6708611" cy="4305709"/>
          </a:xfrm>
        </p:grpSpPr>
        <p:sp>
          <p:nvSpPr>
            <p:cNvPr name="Freeform 14" id="14"/>
            <p:cNvSpPr/>
            <p:nvPr/>
          </p:nvSpPr>
          <p:spPr>
            <a:xfrm flipH="false" flipV="false" rot="0">
              <a:off x="0" y="0"/>
              <a:ext cx="6708611" cy="4305709"/>
            </a:xfrm>
            <a:custGeom>
              <a:avLst/>
              <a:gdLst/>
              <a:ahLst/>
              <a:cxnLst/>
              <a:rect r="r" b="b" t="t" l="l"/>
              <a:pathLst>
                <a:path h="4305709" w="6708611">
                  <a:moveTo>
                    <a:pt x="0" y="0"/>
                  </a:moveTo>
                  <a:lnTo>
                    <a:pt x="6708611" y="0"/>
                  </a:lnTo>
                  <a:lnTo>
                    <a:pt x="6708611" y="4305709"/>
                  </a:lnTo>
                  <a:lnTo>
                    <a:pt x="0" y="4305709"/>
                  </a:lnTo>
                  <a:lnTo>
                    <a:pt x="0" y="0"/>
                  </a:lnTo>
                  <a:close/>
                </a:path>
              </a:pathLst>
            </a:custGeom>
            <a:blipFill>
              <a:blip r:embed="rId6"/>
              <a:stretch>
                <a:fillRect l="0" t="0" r="0" b="0"/>
              </a:stretch>
            </a:blipFill>
          </p:spPr>
        </p:sp>
        <p:sp>
          <p:nvSpPr>
            <p:cNvPr name="TextBox 15" id="15"/>
            <p:cNvSpPr txBox="true"/>
            <p:nvPr/>
          </p:nvSpPr>
          <p:spPr>
            <a:xfrm rot="0">
              <a:off x="9467" y="581571"/>
              <a:ext cx="6699144" cy="648263"/>
            </a:xfrm>
            <a:prstGeom prst="rect">
              <a:avLst/>
            </a:prstGeom>
          </p:spPr>
          <p:txBody>
            <a:bodyPr anchor="t" rtlCol="false" tIns="0" lIns="0" bIns="0" rIns="0">
              <a:spAutoFit/>
            </a:bodyPr>
            <a:lstStyle/>
            <a:p>
              <a:pPr algn="ctr">
                <a:lnSpc>
                  <a:spcPts val="4072"/>
                </a:lnSpc>
              </a:pPr>
              <a:r>
                <a:rPr lang="en-US" sz="2909" b="true">
                  <a:solidFill>
                    <a:srgbClr val="FFFFFF"/>
                  </a:solidFill>
                  <a:latin typeface="Pattanakarn Bold"/>
                  <a:ea typeface="Pattanakarn Bold"/>
                  <a:cs typeface="Pattanakarn Bold"/>
                  <a:sym typeface="Pattanakarn Bold"/>
                </a:rPr>
                <a:t>3. K-Means Modeling</a:t>
              </a:r>
            </a:p>
          </p:txBody>
        </p:sp>
        <p:sp>
          <p:nvSpPr>
            <p:cNvPr name="TextBox 16" id="16"/>
            <p:cNvSpPr txBox="true"/>
            <p:nvPr/>
          </p:nvSpPr>
          <p:spPr>
            <a:xfrm rot="0">
              <a:off x="605446" y="1832520"/>
              <a:ext cx="5507188" cy="1873574"/>
            </a:xfrm>
            <a:prstGeom prst="rect">
              <a:avLst/>
            </a:prstGeom>
          </p:spPr>
          <p:txBody>
            <a:bodyPr anchor="t" rtlCol="false" tIns="0" lIns="0" bIns="0" rIns="0">
              <a:spAutoFit/>
            </a:bodyPr>
            <a:lstStyle/>
            <a:p>
              <a:pPr algn="ctr">
                <a:lnSpc>
                  <a:spcPts val="2852"/>
                </a:lnSpc>
              </a:pPr>
              <a:r>
                <a:rPr lang="en-US" sz="2037" spc="160">
                  <a:solidFill>
                    <a:srgbClr val="FFFFFF"/>
                  </a:solidFill>
                  <a:latin typeface="Pattanakarn"/>
                  <a:ea typeface="Pattanakarn"/>
                  <a:cs typeface="Pattanakarn"/>
                  <a:sym typeface="Pattanakarn"/>
                </a:rPr>
                <a:t>Eksperimen iteratif pencarian Centroid terbaik (K=2 s.d. 10) menggunakan Scikit-Learn Python.</a:t>
              </a:r>
            </a:p>
          </p:txBody>
        </p:sp>
      </p:grpSp>
      <p:grpSp>
        <p:nvGrpSpPr>
          <p:cNvPr name="Group 17" id="17"/>
          <p:cNvGrpSpPr/>
          <p:nvPr/>
        </p:nvGrpSpPr>
        <p:grpSpPr>
          <a:xfrm rot="0">
            <a:off x="11498802" y="6420927"/>
            <a:ext cx="5031459" cy="3586371"/>
            <a:chOff x="0" y="0"/>
            <a:chExt cx="6708611" cy="4781828"/>
          </a:xfrm>
        </p:grpSpPr>
        <p:sp>
          <p:nvSpPr>
            <p:cNvPr name="Freeform 18" id="18"/>
            <p:cNvSpPr/>
            <p:nvPr/>
          </p:nvSpPr>
          <p:spPr>
            <a:xfrm flipH="false" flipV="false" rot="0">
              <a:off x="0" y="0"/>
              <a:ext cx="6708611" cy="4781828"/>
            </a:xfrm>
            <a:custGeom>
              <a:avLst/>
              <a:gdLst/>
              <a:ahLst/>
              <a:cxnLst/>
              <a:rect r="r" b="b" t="t" l="l"/>
              <a:pathLst>
                <a:path h="4781828" w="6708611">
                  <a:moveTo>
                    <a:pt x="0" y="0"/>
                  </a:moveTo>
                  <a:lnTo>
                    <a:pt x="6708611" y="0"/>
                  </a:lnTo>
                  <a:lnTo>
                    <a:pt x="6708611" y="4781828"/>
                  </a:lnTo>
                  <a:lnTo>
                    <a:pt x="0" y="4781828"/>
                  </a:lnTo>
                  <a:lnTo>
                    <a:pt x="0" y="0"/>
                  </a:lnTo>
                  <a:close/>
                </a:path>
              </a:pathLst>
            </a:custGeom>
            <a:blipFill>
              <a:blip r:embed="rId6"/>
              <a:stretch>
                <a:fillRect l="-5528" t="0" r="-5528" b="0"/>
              </a:stretch>
            </a:blipFill>
          </p:spPr>
        </p:sp>
        <p:sp>
          <p:nvSpPr>
            <p:cNvPr name="TextBox 19" id="19"/>
            <p:cNvSpPr txBox="true"/>
            <p:nvPr/>
          </p:nvSpPr>
          <p:spPr>
            <a:xfrm rot="0">
              <a:off x="9467" y="581571"/>
              <a:ext cx="6699144" cy="648263"/>
            </a:xfrm>
            <a:prstGeom prst="rect">
              <a:avLst/>
            </a:prstGeom>
          </p:spPr>
          <p:txBody>
            <a:bodyPr anchor="t" rtlCol="false" tIns="0" lIns="0" bIns="0" rIns="0">
              <a:spAutoFit/>
            </a:bodyPr>
            <a:lstStyle/>
            <a:p>
              <a:pPr algn="ctr">
                <a:lnSpc>
                  <a:spcPts val="4072"/>
                </a:lnSpc>
              </a:pPr>
              <a:r>
                <a:rPr lang="en-US" sz="2909" b="true">
                  <a:solidFill>
                    <a:srgbClr val="FFFFFF"/>
                  </a:solidFill>
                  <a:latin typeface="Pattanakarn Bold"/>
                  <a:ea typeface="Pattanakarn Bold"/>
                  <a:cs typeface="Pattanakarn Bold"/>
                  <a:sym typeface="Pattanakarn Bold"/>
                </a:rPr>
                <a:t>4. Evaluasi Model</a:t>
              </a:r>
            </a:p>
          </p:txBody>
        </p:sp>
        <p:sp>
          <p:nvSpPr>
            <p:cNvPr name="TextBox 20" id="20"/>
            <p:cNvSpPr txBox="true"/>
            <p:nvPr/>
          </p:nvSpPr>
          <p:spPr>
            <a:xfrm rot="0">
              <a:off x="605446" y="1832520"/>
              <a:ext cx="5507188" cy="2349693"/>
            </a:xfrm>
            <a:prstGeom prst="rect">
              <a:avLst/>
            </a:prstGeom>
          </p:spPr>
          <p:txBody>
            <a:bodyPr anchor="t" rtlCol="false" tIns="0" lIns="0" bIns="0" rIns="0">
              <a:spAutoFit/>
            </a:bodyPr>
            <a:lstStyle/>
            <a:p>
              <a:pPr algn="ctr">
                <a:lnSpc>
                  <a:spcPts val="2852"/>
                </a:lnSpc>
              </a:pPr>
              <a:r>
                <a:rPr lang="en-US" sz="2037" spc="160">
                  <a:solidFill>
                    <a:srgbClr val="FFFFFF"/>
                  </a:solidFill>
                  <a:latin typeface="Pattanakarn"/>
                  <a:ea typeface="Pattanakarn"/>
                  <a:cs typeface="Pattanakarn"/>
                  <a:sym typeface="Pattanakarn"/>
                </a:rPr>
                <a:t>Validasi pemisahan cluster menggunakan pendekatan Elbow Method (Inertia) dan metrik Silhouette Coefficient.</a:t>
              </a:r>
            </a:p>
          </p:txBody>
        </p:sp>
      </p:grpSp>
      <p:sp>
        <p:nvSpPr>
          <p:cNvPr name="AutoShape 21" id="21"/>
          <p:cNvSpPr/>
          <p:nvPr/>
        </p:nvSpPr>
        <p:spPr>
          <a:xfrm>
            <a:off x="2894716" y="5956632"/>
            <a:ext cx="3493378" cy="0"/>
          </a:xfrm>
          <a:prstGeom prst="line">
            <a:avLst/>
          </a:prstGeom>
          <a:ln cap="flat" w="38100">
            <a:solidFill>
              <a:srgbClr val="FFFFFF"/>
            </a:solidFill>
            <a:prstDash val="solid"/>
            <a:headEnd type="diamond" len="lg" w="lg"/>
            <a:tailEnd type="diamond" len="lg" w="lg"/>
          </a:ln>
        </p:spPr>
      </p:sp>
      <p:sp>
        <p:nvSpPr>
          <p:cNvPr name="AutoShape 22" id="22"/>
          <p:cNvSpPr/>
          <p:nvPr/>
        </p:nvSpPr>
        <p:spPr>
          <a:xfrm>
            <a:off x="6229577" y="5956631"/>
            <a:ext cx="4008652" cy="0"/>
          </a:xfrm>
          <a:prstGeom prst="line">
            <a:avLst/>
          </a:prstGeom>
          <a:ln cap="flat" w="38100">
            <a:solidFill>
              <a:srgbClr val="FFFFFF"/>
            </a:solidFill>
            <a:prstDash val="solid"/>
            <a:headEnd type="diamond" len="lg" w="lg"/>
            <a:tailEnd type="diamond" len="lg" w="lg"/>
          </a:ln>
        </p:spPr>
      </p:sp>
      <p:sp>
        <p:nvSpPr>
          <p:cNvPr name="AutoShape 23" id="23"/>
          <p:cNvSpPr/>
          <p:nvPr/>
        </p:nvSpPr>
        <p:spPr>
          <a:xfrm>
            <a:off x="10095472" y="5956631"/>
            <a:ext cx="4245173" cy="0"/>
          </a:xfrm>
          <a:prstGeom prst="line">
            <a:avLst/>
          </a:prstGeom>
          <a:ln cap="flat" w="38100">
            <a:solidFill>
              <a:srgbClr val="FFFFFF"/>
            </a:solidFill>
            <a:prstDash val="solid"/>
            <a:headEnd type="diamond" len="lg" w="lg"/>
            <a:tailEnd type="diamond" len="lg" w="lg"/>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493041" y="6670693"/>
            <a:ext cx="5043482" cy="5175215"/>
          </a:xfrm>
          <a:custGeom>
            <a:avLst/>
            <a:gdLst/>
            <a:ahLst/>
            <a:cxnLst/>
            <a:rect r="r" b="b" t="t" l="l"/>
            <a:pathLst>
              <a:path h="5175215" w="5043482">
                <a:moveTo>
                  <a:pt x="0" y="0"/>
                </a:moveTo>
                <a:lnTo>
                  <a:pt x="5043482" y="0"/>
                </a:lnTo>
                <a:lnTo>
                  <a:pt x="5043482" y="5175214"/>
                </a:lnTo>
                <a:lnTo>
                  <a:pt x="0" y="5175214"/>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37559" y="-2057986"/>
            <a:ext cx="5043482" cy="5175215"/>
          </a:xfrm>
          <a:custGeom>
            <a:avLst/>
            <a:gdLst/>
            <a:ahLst/>
            <a:cxnLst/>
            <a:rect r="r" b="b" t="t" l="l"/>
            <a:pathLst>
              <a:path h="5175215" w="5043482">
                <a:moveTo>
                  <a:pt x="0" y="0"/>
                </a:moveTo>
                <a:lnTo>
                  <a:pt x="5043482" y="0"/>
                </a:lnTo>
                <a:lnTo>
                  <a:pt x="5043482" y="5175215"/>
                </a:lnTo>
                <a:lnTo>
                  <a:pt x="0" y="5175215"/>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484079" y="6630646"/>
            <a:ext cx="3550441" cy="3421334"/>
          </a:xfrm>
          <a:custGeom>
            <a:avLst/>
            <a:gdLst/>
            <a:ahLst/>
            <a:cxnLst/>
            <a:rect r="r" b="b" t="t" l="l"/>
            <a:pathLst>
              <a:path h="3421334" w="3550441">
                <a:moveTo>
                  <a:pt x="0" y="0"/>
                </a:moveTo>
                <a:lnTo>
                  <a:pt x="3550442" y="0"/>
                </a:lnTo>
                <a:lnTo>
                  <a:pt x="3550442" y="3421334"/>
                </a:lnTo>
                <a:lnTo>
                  <a:pt x="0" y="3421334"/>
                </a:lnTo>
                <a:lnTo>
                  <a:pt x="0" y="0"/>
                </a:lnTo>
                <a:close/>
              </a:path>
            </a:pathLst>
          </a:custGeom>
          <a:blipFill>
            <a:blip r:embed="rId4">
              <a:alphaModFix amt="44999"/>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013716" y="-304105"/>
            <a:ext cx="3550441" cy="3421334"/>
          </a:xfrm>
          <a:custGeom>
            <a:avLst/>
            <a:gdLst/>
            <a:ahLst/>
            <a:cxnLst/>
            <a:rect r="r" b="b" t="t" l="l"/>
            <a:pathLst>
              <a:path h="3421334" w="3550441">
                <a:moveTo>
                  <a:pt x="3550441" y="0"/>
                </a:moveTo>
                <a:lnTo>
                  <a:pt x="0" y="0"/>
                </a:lnTo>
                <a:lnTo>
                  <a:pt x="0" y="3421334"/>
                </a:lnTo>
                <a:lnTo>
                  <a:pt x="3550441" y="3421334"/>
                </a:lnTo>
                <a:lnTo>
                  <a:pt x="3550441" y="0"/>
                </a:lnTo>
                <a:close/>
              </a:path>
            </a:pathLst>
          </a:custGeom>
          <a:blipFill>
            <a:blip r:embed="rId4">
              <a:alphaModFix amt="44999"/>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78821" y="-637817"/>
            <a:ext cx="17330358" cy="11122939"/>
          </a:xfrm>
          <a:custGeom>
            <a:avLst/>
            <a:gdLst/>
            <a:ahLst/>
            <a:cxnLst/>
            <a:rect r="r" b="b" t="t" l="l"/>
            <a:pathLst>
              <a:path h="11122939" w="17330358">
                <a:moveTo>
                  <a:pt x="0" y="0"/>
                </a:moveTo>
                <a:lnTo>
                  <a:pt x="17330358" y="0"/>
                </a:lnTo>
                <a:lnTo>
                  <a:pt x="17330358" y="11122939"/>
                </a:lnTo>
                <a:lnTo>
                  <a:pt x="0" y="11122939"/>
                </a:lnTo>
                <a:lnTo>
                  <a:pt x="0" y="0"/>
                </a:lnTo>
                <a:close/>
              </a:path>
            </a:pathLst>
          </a:custGeom>
          <a:blipFill>
            <a:blip r:embed="rId6"/>
            <a:stretch>
              <a:fillRect l="0" t="0" r="0" b="0"/>
            </a:stretch>
          </a:blipFill>
        </p:spPr>
      </p:sp>
      <p:grpSp>
        <p:nvGrpSpPr>
          <p:cNvPr name="Group 7" id="7"/>
          <p:cNvGrpSpPr/>
          <p:nvPr/>
        </p:nvGrpSpPr>
        <p:grpSpPr>
          <a:xfrm rot="0">
            <a:off x="1172325" y="2283693"/>
            <a:ext cx="5955668" cy="2165672"/>
            <a:chOff x="0" y="0"/>
            <a:chExt cx="1568571" cy="570383"/>
          </a:xfrm>
        </p:grpSpPr>
        <p:sp>
          <p:nvSpPr>
            <p:cNvPr name="Freeform 8" id="8"/>
            <p:cNvSpPr/>
            <p:nvPr/>
          </p:nvSpPr>
          <p:spPr>
            <a:xfrm flipH="false" flipV="false" rot="0">
              <a:off x="0" y="0"/>
              <a:ext cx="1568571" cy="570383"/>
            </a:xfrm>
            <a:custGeom>
              <a:avLst/>
              <a:gdLst/>
              <a:ahLst/>
              <a:cxnLst/>
              <a:rect r="r" b="b" t="t" l="l"/>
              <a:pathLst>
                <a:path h="570383" w="1568571">
                  <a:moveTo>
                    <a:pt x="66296" y="0"/>
                  </a:moveTo>
                  <a:lnTo>
                    <a:pt x="1502275" y="0"/>
                  </a:lnTo>
                  <a:cubicBezTo>
                    <a:pt x="1538889" y="0"/>
                    <a:pt x="1568571" y="29682"/>
                    <a:pt x="1568571" y="66296"/>
                  </a:cubicBezTo>
                  <a:lnTo>
                    <a:pt x="1568571" y="504087"/>
                  </a:lnTo>
                  <a:cubicBezTo>
                    <a:pt x="1568571" y="521670"/>
                    <a:pt x="1561586" y="538532"/>
                    <a:pt x="1549153" y="550965"/>
                  </a:cubicBezTo>
                  <a:cubicBezTo>
                    <a:pt x="1536720" y="563398"/>
                    <a:pt x="1519858" y="570383"/>
                    <a:pt x="1502275" y="570383"/>
                  </a:cubicBezTo>
                  <a:lnTo>
                    <a:pt x="66296" y="570383"/>
                  </a:lnTo>
                  <a:cubicBezTo>
                    <a:pt x="48713" y="570383"/>
                    <a:pt x="31851" y="563398"/>
                    <a:pt x="19418" y="550965"/>
                  </a:cubicBezTo>
                  <a:cubicBezTo>
                    <a:pt x="6985" y="538532"/>
                    <a:pt x="0" y="521670"/>
                    <a:pt x="0" y="504087"/>
                  </a:cubicBezTo>
                  <a:lnTo>
                    <a:pt x="0" y="66296"/>
                  </a:lnTo>
                  <a:cubicBezTo>
                    <a:pt x="0" y="48713"/>
                    <a:pt x="6985" y="31851"/>
                    <a:pt x="19418" y="19418"/>
                  </a:cubicBezTo>
                  <a:cubicBezTo>
                    <a:pt x="31851" y="6985"/>
                    <a:pt x="48713" y="0"/>
                    <a:pt x="66296" y="0"/>
                  </a:cubicBezTo>
                  <a:close/>
                </a:path>
              </a:pathLst>
            </a:custGeom>
            <a:solidFill>
              <a:srgbClr val="FFFFFF"/>
            </a:solidFill>
          </p:spPr>
        </p:sp>
        <p:sp>
          <p:nvSpPr>
            <p:cNvPr name="TextBox 9" id="9"/>
            <p:cNvSpPr txBox="true"/>
            <p:nvPr/>
          </p:nvSpPr>
          <p:spPr>
            <a:xfrm>
              <a:off x="0" y="-38100"/>
              <a:ext cx="1568571" cy="608483"/>
            </a:xfrm>
            <a:prstGeom prst="rect">
              <a:avLst/>
            </a:prstGeom>
          </p:spPr>
          <p:txBody>
            <a:bodyPr anchor="ctr" rtlCol="false" tIns="50800" lIns="50800" bIns="50800" rIns="50800"/>
            <a:lstStyle/>
            <a:p>
              <a:pPr algn="ctr">
                <a:lnSpc>
                  <a:spcPts val="2669"/>
                </a:lnSpc>
              </a:pPr>
            </a:p>
          </p:txBody>
        </p:sp>
      </p:grpSp>
      <p:grpSp>
        <p:nvGrpSpPr>
          <p:cNvPr name="Group 10" id="10"/>
          <p:cNvGrpSpPr/>
          <p:nvPr/>
        </p:nvGrpSpPr>
        <p:grpSpPr>
          <a:xfrm rot="0">
            <a:off x="1626067" y="2455655"/>
            <a:ext cx="5048185" cy="1811630"/>
            <a:chOff x="0" y="0"/>
            <a:chExt cx="6730913" cy="2415506"/>
          </a:xfrm>
        </p:grpSpPr>
        <p:sp>
          <p:nvSpPr>
            <p:cNvPr name="Freeform 11" id="11"/>
            <p:cNvSpPr/>
            <p:nvPr/>
          </p:nvSpPr>
          <p:spPr>
            <a:xfrm flipH="false" flipV="false" rot="0">
              <a:off x="2892563" y="700371"/>
              <a:ext cx="3838350" cy="1014764"/>
            </a:xfrm>
            <a:custGeom>
              <a:avLst/>
              <a:gdLst/>
              <a:ahLst/>
              <a:cxnLst/>
              <a:rect r="r" b="b" t="t" l="l"/>
              <a:pathLst>
                <a:path h="1014764" w="3838350">
                  <a:moveTo>
                    <a:pt x="0" y="0"/>
                  </a:moveTo>
                  <a:lnTo>
                    <a:pt x="3838350" y="0"/>
                  </a:lnTo>
                  <a:lnTo>
                    <a:pt x="3838350" y="1014764"/>
                  </a:lnTo>
                  <a:lnTo>
                    <a:pt x="0" y="1014764"/>
                  </a:lnTo>
                  <a:lnTo>
                    <a:pt x="0" y="0"/>
                  </a:lnTo>
                  <a:close/>
                </a:path>
              </a:pathLst>
            </a:custGeom>
            <a:blipFill>
              <a:blip r:embed="rId7"/>
              <a:stretch>
                <a:fillRect l="0" t="0" r="0" b="0"/>
              </a:stretch>
            </a:blipFill>
          </p:spPr>
        </p:sp>
        <p:sp>
          <p:nvSpPr>
            <p:cNvPr name="Freeform 12" id="12"/>
            <p:cNvSpPr/>
            <p:nvPr/>
          </p:nvSpPr>
          <p:spPr>
            <a:xfrm flipH="false" flipV="false" rot="0">
              <a:off x="0" y="0"/>
              <a:ext cx="2680793" cy="2415506"/>
            </a:xfrm>
            <a:custGeom>
              <a:avLst/>
              <a:gdLst/>
              <a:ahLst/>
              <a:cxnLst/>
              <a:rect r="r" b="b" t="t" l="l"/>
              <a:pathLst>
                <a:path h="2415506" w="2680793">
                  <a:moveTo>
                    <a:pt x="0" y="0"/>
                  </a:moveTo>
                  <a:lnTo>
                    <a:pt x="2680793" y="0"/>
                  </a:lnTo>
                  <a:lnTo>
                    <a:pt x="2680793" y="2415506"/>
                  </a:lnTo>
                  <a:lnTo>
                    <a:pt x="0" y="2415506"/>
                  </a:lnTo>
                  <a:lnTo>
                    <a:pt x="0" y="0"/>
                  </a:lnTo>
                  <a:close/>
                </a:path>
              </a:pathLst>
            </a:custGeom>
            <a:blipFill>
              <a:blip r:embed="rId8"/>
              <a:stretch>
                <a:fillRect l="0" t="0" r="0" b="0"/>
              </a:stretch>
            </a:blipFill>
          </p:spPr>
        </p:sp>
      </p:grpSp>
      <p:grpSp>
        <p:nvGrpSpPr>
          <p:cNvPr name="Group 13" id="13"/>
          <p:cNvGrpSpPr/>
          <p:nvPr/>
        </p:nvGrpSpPr>
        <p:grpSpPr>
          <a:xfrm rot="0">
            <a:off x="11059839" y="2249173"/>
            <a:ext cx="4764053" cy="2401443"/>
            <a:chOff x="0" y="0"/>
            <a:chExt cx="6352071" cy="3201924"/>
          </a:xfrm>
        </p:grpSpPr>
        <p:sp>
          <p:nvSpPr>
            <p:cNvPr name="Freeform 14" id="14"/>
            <p:cNvSpPr/>
            <p:nvPr/>
          </p:nvSpPr>
          <p:spPr>
            <a:xfrm flipH="false" flipV="false" rot="0">
              <a:off x="0" y="0"/>
              <a:ext cx="3344222" cy="2347036"/>
            </a:xfrm>
            <a:custGeom>
              <a:avLst/>
              <a:gdLst/>
              <a:ahLst/>
              <a:cxnLst/>
              <a:rect r="r" b="b" t="t" l="l"/>
              <a:pathLst>
                <a:path h="2347036" w="3344222">
                  <a:moveTo>
                    <a:pt x="0" y="0"/>
                  </a:moveTo>
                  <a:lnTo>
                    <a:pt x="3344222" y="0"/>
                  </a:lnTo>
                  <a:lnTo>
                    <a:pt x="3344222" y="2347036"/>
                  </a:lnTo>
                  <a:lnTo>
                    <a:pt x="0" y="234703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5" id="15"/>
            <p:cNvSpPr txBox="true"/>
            <p:nvPr/>
          </p:nvSpPr>
          <p:spPr>
            <a:xfrm rot="0">
              <a:off x="3672226" y="245585"/>
              <a:ext cx="2679845" cy="2956339"/>
            </a:xfrm>
            <a:prstGeom prst="rect">
              <a:avLst/>
            </a:prstGeom>
          </p:spPr>
          <p:txBody>
            <a:bodyPr anchor="t" rtlCol="false" tIns="0" lIns="0" bIns="0" rIns="0">
              <a:spAutoFit/>
            </a:bodyPr>
            <a:lstStyle/>
            <a:p>
              <a:pPr algn="ctr">
                <a:lnSpc>
                  <a:spcPts val="3526"/>
                </a:lnSpc>
              </a:pPr>
              <a:r>
                <a:rPr lang="en-US" sz="2519" b="true">
                  <a:solidFill>
                    <a:srgbClr val="FFFFFF"/>
                  </a:solidFill>
                  <a:latin typeface="Open Sans Bold"/>
                  <a:ea typeface="Open Sans Bold"/>
                  <a:cs typeface="Open Sans Bold"/>
                  <a:sym typeface="Open Sans Bold"/>
                </a:rPr>
                <a:t>1090 baris</a:t>
              </a:r>
            </a:p>
            <a:p>
              <a:pPr algn="ctr">
                <a:lnSpc>
                  <a:spcPts val="3526"/>
                </a:lnSpc>
              </a:pPr>
              <a:r>
                <a:rPr lang="en-US" sz="2519" b="true">
                  <a:solidFill>
                    <a:srgbClr val="FFFFFF"/>
                  </a:solidFill>
                  <a:latin typeface="Open Sans Bold"/>
                  <a:ea typeface="Open Sans Bold"/>
                  <a:cs typeface="Open Sans Bold"/>
                  <a:sym typeface="Open Sans Bold"/>
                </a:rPr>
                <a:t>22 kolom</a:t>
              </a:r>
            </a:p>
            <a:p>
              <a:pPr algn="ctr">
                <a:lnSpc>
                  <a:spcPts val="3526"/>
                </a:lnSpc>
              </a:pPr>
              <a:r>
                <a:rPr lang="en-US" sz="2519" b="true">
                  <a:solidFill>
                    <a:srgbClr val="FFFFFF"/>
                  </a:solidFill>
                  <a:latin typeface="Open Sans Bold"/>
                  <a:ea typeface="Open Sans Bold"/>
                  <a:cs typeface="Open Sans Bold"/>
                  <a:sym typeface="Open Sans Bold"/>
                </a:rPr>
                <a:t>2 Juni 2026 - 16 Juni 2026</a:t>
              </a:r>
            </a:p>
            <a:p>
              <a:pPr algn="ctr">
                <a:lnSpc>
                  <a:spcPts val="3526"/>
                </a:lnSpc>
              </a:pPr>
            </a:p>
          </p:txBody>
        </p:sp>
      </p:grpSp>
      <p:grpSp>
        <p:nvGrpSpPr>
          <p:cNvPr name="Group 16" id="16"/>
          <p:cNvGrpSpPr/>
          <p:nvPr/>
        </p:nvGrpSpPr>
        <p:grpSpPr>
          <a:xfrm rot="0">
            <a:off x="905136" y="5828450"/>
            <a:ext cx="5290609" cy="1817461"/>
            <a:chOff x="0" y="0"/>
            <a:chExt cx="7054146" cy="2423282"/>
          </a:xfrm>
        </p:grpSpPr>
        <p:sp>
          <p:nvSpPr>
            <p:cNvPr name="Freeform 17" id="17"/>
            <p:cNvSpPr/>
            <p:nvPr/>
          </p:nvSpPr>
          <p:spPr>
            <a:xfrm flipH="false" flipV="false" rot="0">
              <a:off x="0" y="0"/>
              <a:ext cx="2608229" cy="2423282"/>
            </a:xfrm>
            <a:custGeom>
              <a:avLst/>
              <a:gdLst/>
              <a:ahLst/>
              <a:cxnLst/>
              <a:rect r="r" b="b" t="t" l="l"/>
              <a:pathLst>
                <a:path h="2423282" w="2608229">
                  <a:moveTo>
                    <a:pt x="0" y="0"/>
                  </a:moveTo>
                  <a:lnTo>
                    <a:pt x="2608229" y="0"/>
                  </a:lnTo>
                  <a:lnTo>
                    <a:pt x="2608229" y="2423282"/>
                  </a:lnTo>
                  <a:lnTo>
                    <a:pt x="0" y="242328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8" id="18"/>
            <p:cNvSpPr txBox="true"/>
            <p:nvPr/>
          </p:nvSpPr>
          <p:spPr>
            <a:xfrm rot="0">
              <a:off x="2342916" y="-57150"/>
              <a:ext cx="4711229" cy="1557234"/>
            </a:xfrm>
            <a:prstGeom prst="rect">
              <a:avLst/>
            </a:prstGeom>
          </p:spPr>
          <p:txBody>
            <a:bodyPr anchor="t" rtlCol="false" tIns="0" lIns="0" bIns="0" rIns="0">
              <a:spAutoFit/>
            </a:bodyPr>
            <a:lstStyle/>
            <a:p>
              <a:pPr algn="ctr">
                <a:lnSpc>
                  <a:spcPts val="4877"/>
                </a:lnSpc>
              </a:pPr>
              <a:r>
                <a:rPr lang="en-US" sz="3483" b="true">
                  <a:solidFill>
                    <a:srgbClr val="FFFFFF"/>
                  </a:solidFill>
                  <a:latin typeface="Open Sans Bold"/>
                  <a:ea typeface="Open Sans Bold"/>
                  <a:cs typeface="Open Sans Bold"/>
                  <a:sym typeface="Open Sans Bold"/>
                </a:rPr>
                <a:t>reviewsCount</a:t>
              </a:r>
            </a:p>
            <a:p>
              <a:pPr algn="ctr">
                <a:lnSpc>
                  <a:spcPts val="4877"/>
                </a:lnSpc>
              </a:pPr>
              <a:r>
                <a:rPr lang="en-US" sz="3483" b="true">
                  <a:solidFill>
                    <a:srgbClr val="FFFFFF"/>
                  </a:solidFill>
                  <a:latin typeface="Open Sans Bold"/>
                  <a:ea typeface="Open Sans Bold"/>
                  <a:cs typeface="Open Sans Bold"/>
                  <a:sym typeface="Open Sans Bold"/>
                </a:rPr>
                <a:t>Rating</a:t>
              </a:r>
            </a:p>
          </p:txBody>
        </p:sp>
      </p:grpSp>
      <p:grpSp>
        <p:nvGrpSpPr>
          <p:cNvPr name="Group 19" id="19"/>
          <p:cNvGrpSpPr/>
          <p:nvPr/>
        </p:nvGrpSpPr>
        <p:grpSpPr>
          <a:xfrm rot="0">
            <a:off x="11794200" y="5666525"/>
            <a:ext cx="4029693" cy="2792853"/>
            <a:chOff x="0" y="0"/>
            <a:chExt cx="5372924" cy="3723804"/>
          </a:xfrm>
        </p:grpSpPr>
        <p:sp>
          <p:nvSpPr>
            <p:cNvPr name="Freeform 20" id="20"/>
            <p:cNvSpPr/>
            <p:nvPr/>
          </p:nvSpPr>
          <p:spPr>
            <a:xfrm flipH="false" flipV="false" rot="0">
              <a:off x="1563432" y="0"/>
              <a:ext cx="2349139" cy="2007446"/>
            </a:xfrm>
            <a:custGeom>
              <a:avLst/>
              <a:gdLst/>
              <a:ahLst/>
              <a:cxnLst/>
              <a:rect r="r" b="b" t="t" l="l"/>
              <a:pathLst>
                <a:path h="2007446" w="2349139">
                  <a:moveTo>
                    <a:pt x="0" y="0"/>
                  </a:moveTo>
                  <a:lnTo>
                    <a:pt x="2349140" y="0"/>
                  </a:lnTo>
                  <a:lnTo>
                    <a:pt x="2349140" y="2007446"/>
                  </a:lnTo>
                  <a:lnTo>
                    <a:pt x="0" y="200744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1" id="21"/>
            <p:cNvSpPr txBox="true"/>
            <p:nvPr/>
          </p:nvSpPr>
          <p:spPr>
            <a:xfrm rot="0">
              <a:off x="0" y="2126755"/>
              <a:ext cx="5372924" cy="1597049"/>
            </a:xfrm>
            <a:prstGeom prst="rect">
              <a:avLst/>
            </a:prstGeom>
          </p:spPr>
          <p:txBody>
            <a:bodyPr anchor="t" rtlCol="false" tIns="0" lIns="0" bIns="0" rIns="0">
              <a:spAutoFit/>
            </a:bodyPr>
            <a:lstStyle/>
            <a:p>
              <a:pPr algn="ctr">
                <a:lnSpc>
                  <a:spcPts val="3280"/>
                </a:lnSpc>
              </a:pPr>
              <a:r>
                <a:rPr lang="en-US" sz="2343" b="true">
                  <a:solidFill>
                    <a:srgbClr val="FFFFFF"/>
                  </a:solidFill>
                  <a:latin typeface="Open Sans Bold"/>
                  <a:ea typeface="Open Sans Bold"/>
                  <a:cs typeface="Open Sans Bold"/>
                  <a:sym typeface="Open Sans Bold"/>
                </a:rPr>
                <a:t>missing value</a:t>
              </a:r>
              <a:r>
                <a:rPr lang="en-US" sz="2343" b="true">
                  <a:solidFill>
                    <a:srgbClr val="FFFFFF"/>
                  </a:solidFill>
                  <a:latin typeface="Open Sans Bold"/>
                  <a:ea typeface="Open Sans Bold"/>
                  <a:cs typeface="Open Sans Bold"/>
                  <a:sym typeface="Open Sans Bold"/>
                </a:rPr>
                <a:t>, format tidak seragam, distribusi miring (right-skewed).</a:t>
              </a:r>
            </a:p>
          </p:txBody>
        </p:sp>
      </p:grpSp>
      <p:sp>
        <p:nvSpPr>
          <p:cNvPr name="TextBox 22" id="22"/>
          <p:cNvSpPr txBox="true"/>
          <p:nvPr/>
        </p:nvSpPr>
        <p:spPr>
          <a:xfrm rot="0">
            <a:off x="4450172" y="227997"/>
            <a:ext cx="9387656" cy="679450"/>
          </a:xfrm>
          <a:prstGeom prst="rect">
            <a:avLst/>
          </a:prstGeom>
        </p:spPr>
        <p:txBody>
          <a:bodyPr anchor="t" rtlCol="false" tIns="0" lIns="0" bIns="0" rIns="0">
            <a:spAutoFit/>
          </a:bodyPr>
          <a:lstStyle/>
          <a:p>
            <a:pPr algn="ctr">
              <a:lnSpc>
                <a:spcPts val="5000"/>
              </a:lnSpc>
            </a:pPr>
            <a:r>
              <a:rPr lang="en-US" b="true" sz="5000" spc="140">
                <a:solidFill>
                  <a:srgbClr val="FFFFFF"/>
                </a:solidFill>
                <a:latin typeface="Tomorrow Bold"/>
                <a:ea typeface="Tomorrow Bold"/>
                <a:cs typeface="Tomorrow Bold"/>
                <a:sym typeface="Tomorrow Bold"/>
              </a:rPr>
              <a:t>Dataset dan kondisi awal</a:t>
            </a:r>
          </a:p>
        </p:txBody>
      </p:sp>
      <p:sp>
        <p:nvSpPr>
          <p:cNvPr name="TextBox 23" id="23"/>
          <p:cNvSpPr txBox="true"/>
          <p:nvPr/>
        </p:nvSpPr>
        <p:spPr>
          <a:xfrm rot="0">
            <a:off x="6315306" y="8128759"/>
            <a:ext cx="5592631" cy="1656544"/>
          </a:xfrm>
          <a:prstGeom prst="rect">
            <a:avLst/>
          </a:prstGeom>
        </p:spPr>
        <p:txBody>
          <a:bodyPr anchor="t" rtlCol="false" tIns="0" lIns="0" bIns="0" rIns="0">
            <a:spAutoFit/>
          </a:bodyPr>
          <a:lstStyle/>
          <a:p>
            <a:pPr algn="l" marL="411665" indent="-205833" lvl="1">
              <a:lnSpc>
                <a:spcPts val="2669"/>
              </a:lnSpc>
              <a:buFont typeface="Arial"/>
              <a:buChar char="•"/>
            </a:pPr>
            <a:r>
              <a:rPr lang="en-US" b="true" sz="1906">
                <a:solidFill>
                  <a:srgbClr val="FFFFFF"/>
                </a:solidFill>
                <a:latin typeface="Open Sans Bold"/>
                <a:ea typeface="Open Sans Bold"/>
                <a:cs typeface="Open Sans Bold"/>
                <a:sym typeface="Open Sans Bold"/>
              </a:rPr>
              <a:t>Pengecekan Nilai Null</a:t>
            </a:r>
          </a:p>
          <a:p>
            <a:pPr algn="l" marL="411665" indent="-205833" lvl="1">
              <a:lnSpc>
                <a:spcPts val="2669"/>
              </a:lnSpc>
              <a:buFont typeface="Arial"/>
              <a:buChar char="•"/>
            </a:pPr>
            <a:r>
              <a:rPr lang="en-US" b="true" sz="1906">
                <a:solidFill>
                  <a:srgbClr val="FFFFFF"/>
                </a:solidFill>
                <a:latin typeface="Open Sans Bold"/>
                <a:ea typeface="Open Sans Bold"/>
                <a:cs typeface="Open Sans Bold"/>
                <a:sym typeface="Open Sans Bold"/>
              </a:rPr>
              <a:t>Seleksi Kolom</a:t>
            </a:r>
          </a:p>
          <a:p>
            <a:pPr algn="l" marL="411665" indent="-205833" lvl="1">
              <a:lnSpc>
                <a:spcPts val="2669"/>
              </a:lnSpc>
              <a:buFont typeface="Arial"/>
              <a:buChar char="•"/>
            </a:pPr>
            <a:r>
              <a:rPr lang="en-US" b="true" sz="1906">
                <a:solidFill>
                  <a:srgbClr val="FFFFFF"/>
                </a:solidFill>
                <a:latin typeface="Open Sans Bold"/>
                <a:ea typeface="Open Sans Bold"/>
                <a:cs typeface="Open Sans Bold"/>
                <a:sym typeface="Open Sans Bold"/>
              </a:rPr>
              <a:t>Filter Data</a:t>
            </a:r>
          </a:p>
          <a:p>
            <a:pPr algn="l" marL="411665" indent="-205833" lvl="1">
              <a:lnSpc>
                <a:spcPts val="2669"/>
              </a:lnSpc>
              <a:buFont typeface="Arial"/>
              <a:buChar char="•"/>
            </a:pPr>
            <a:r>
              <a:rPr lang="en-US" b="true" sz="1906">
                <a:solidFill>
                  <a:srgbClr val="FFFFFF"/>
                </a:solidFill>
                <a:latin typeface="Open Sans Bold"/>
                <a:ea typeface="Open Sans Bold"/>
                <a:cs typeface="Open Sans Bold"/>
                <a:sym typeface="Open Sans Bold"/>
              </a:rPr>
              <a:t>Feature Scaling</a:t>
            </a:r>
          </a:p>
          <a:p>
            <a:pPr algn="l" marL="411665" indent="-205833" lvl="1">
              <a:lnSpc>
                <a:spcPts val="2669"/>
              </a:lnSpc>
              <a:buFont typeface="Arial"/>
              <a:buChar char="•"/>
            </a:pPr>
            <a:r>
              <a:rPr lang="en-US" b="true" sz="1906">
                <a:solidFill>
                  <a:srgbClr val="FFFFFF"/>
                </a:solidFill>
                <a:latin typeface="Open Sans Bold"/>
                <a:ea typeface="Open Sans Bold"/>
                <a:cs typeface="Open Sans Bold"/>
                <a:sym typeface="Open Sans Bold"/>
              </a:rPr>
              <a:t>Log Transformation</a:t>
            </a:r>
          </a:p>
        </p:txBody>
      </p:sp>
      <p:grpSp>
        <p:nvGrpSpPr>
          <p:cNvPr name="Group 24" id="24"/>
          <p:cNvGrpSpPr/>
          <p:nvPr/>
        </p:nvGrpSpPr>
        <p:grpSpPr>
          <a:xfrm rot="0">
            <a:off x="9940972" y="1066534"/>
            <a:ext cx="6988927" cy="1020714"/>
            <a:chOff x="0" y="0"/>
            <a:chExt cx="3005412" cy="438932"/>
          </a:xfrm>
        </p:grpSpPr>
        <p:sp>
          <p:nvSpPr>
            <p:cNvPr name="Freeform 25" id="25"/>
            <p:cNvSpPr/>
            <p:nvPr/>
          </p:nvSpPr>
          <p:spPr>
            <a:xfrm flipH="false" flipV="false" rot="0">
              <a:off x="0" y="0"/>
              <a:ext cx="3005412" cy="438932"/>
            </a:xfrm>
            <a:custGeom>
              <a:avLst/>
              <a:gdLst/>
              <a:ahLst/>
              <a:cxnLst/>
              <a:rect r="r" b="b" t="t" l="l"/>
              <a:pathLst>
                <a:path h="438932" w="3005412">
                  <a:moveTo>
                    <a:pt x="50956" y="0"/>
                  </a:moveTo>
                  <a:lnTo>
                    <a:pt x="2954456" y="0"/>
                  </a:lnTo>
                  <a:cubicBezTo>
                    <a:pt x="2967970" y="0"/>
                    <a:pt x="2980931" y="5369"/>
                    <a:pt x="2990487" y="14925"/>
                  </a:cubicBezTo>
                  <a:cubicBezTo>
                    <a:pt x="3000043" y="24481"/>
                    <a:pt x="3005412" y="37442"/>
                    <a:pt x="3005412" y="50956"/>
                  </a:cubicBezTo>
                  <a:lnTo>
                    <a:pt x="3005412" y="387976"/>
                  </a:lnTo>
                  <a:cubicBezTo>
                    <a:pt x="3005412" y="401490"/>
                    <a:pt x="3000043" y="414451"/>
                    <a:pt x="2990487" y="424008"/>
                  </a:cubicBezTo>
                  <a:cubicBezTo>
                    <a:pt x="2980931" y="433564"/>
                    <a:pt x="2967970" y="438932"/>
                    <a:pt x="2954456" y="438932"/>
                  </a:cubicBezTo>
                  <a:lnTo>
                    <a:pt x="50956" y="438932"/>
                  </a:lnTo>
                  <a:cubicBezTo>
                    <a:pt x="22814" y="438932"/>
                    <a:pt x="0" y="416118"/>
                    <a:pt x="0" y="387976"/>
                  </a:cubicBezTo>
                  <a:lnTo>
                    <a:pt x="0" y="50956"/>
                  </a:lnTo>
                  <a:cubicBezTo>
                    <a:pt x="0" y="37442"/>
                    <a:pt x="5369" y="24481"/>
                    <a:pt x="14925" y="14925"/>
                  </a:cubicBezTo>
                  <a:cubicBezTo>
                    <a:pt x="24481" y="5369"/>
                    <a:pt x="37442" y="0"/>
                    <a:pt x="50956" y="0"/>
                  </a:cubicBezTo>
                  <a:close/>
                </a:path>
              </a:pathLst>
            </a:custGeom>
            <a:solidFill>
              <a:srgbClr val="00385E"/>
            </a:solidFill>
            <a:ln w="38100" cap="rnd">
              <a:solidFill>
                <a:srgbClr val="E9E5FF"/>
              </a:solidFill>
              <a:prstDash val="solid"/>
              <a:round/>
            </a:ln>
          </p:spPr>
        </p:sp>
        <p:sp>
          <p:nvSpPr>
            <p:cNvPr name="TextBox 26" id="26"/>
            <p:cNvSpPr txBox="true"/>
            <p:nvPr/>
          </p:nvSpPr>
          <p:spPr>
            <a:xfrm>
              <a:off x="0" y="-38100"/>
              <a:ext cx="3005412" cy="477032"/>
            </a:xfrm>
            <a:prstGeom prst="rect">
              <a:avLst/>
            </a:prstGeom>
          </p:spPr>
          <p:txBody>
            <a:bodyPr anchor="ctr" rtlCol="false" tIns="41187" lIns="41187" bIns="41187" rIns="41187"/>
            <a:lstStyle/>
            <a:p>
              <a:pPr algn="ctr">
                <a:lnSpc>
                  <a:spcPts val="2659"/>
                </a:lnSpc>
                <a:spcBef>
                  <a:spcPct val="0"/>
                </a:spcBef>
              </a:pPr>
            </a:p>
          </p:txBody>
        </p:sp>
      </p:grpSp>
      <p:sp>
        <p:nvSpPr>
          <p:cNvPr name="TextBox 27" id="27"/>
          <p:cNvSpPr txBox="true"/>
          <p:nvPr/>
        </p:nvSpPr>
        <p:spPr>
          <a:xfrm rot="0">
            <a:off x="10157314" y="1310460"/>
            <a:ext cx="6569105" cy="573396"/>
          </a:xfrm>
          <a:prstGeom prst="rect">
            <a:avLst/>
          </a:prstGeom>
        </p:spPr>
        <p:txBody>
          <a:bodyPr anchor="t" rtlCol="false" tIns="0" lIns="0" bIns="0" rIns="0">
            <a:spAutoFit/>
          </a:bodyPr>
          <a:lstStyle/>
          <a:p>
            <a:pPr algn="ctr">
              <a:lnSpc>
                <a:spcPts val="2240"/>
              </a:lnSpc>
            </a:pPr>
            <a:r>
              <a:rPr lang="en-US" b="true" sz="2240" spc="62">
                <a:solidFill>
                  <a:srgbClr val="FFFFFF"/>
                </a:solidFill>
                <a:latin typeface="Tomorrow Bold"/>
                <a:ea typeface="Tomorrow Bold"/>
                <a:cs typeface="Tomorrow Bold"/>
                <a:sym typeface="Tomorrow Bold"/>
              </a:rPr>
              <a:t>Jumlah baris, jumlah kolom, dan periode data.</a:t>
            </a:r>
          </a:p>
        </p:txBody>
      </p:sp>
      <p:grpSp>
        <p:nvGrpSpPr>
          <p:cNvPr name="Group 28" id="28"/>
          <p:cNvGrpSpPr/>
          <p:nvPr/>
        </p:nvGrpSpPr>
        <p:grpSpPr>
          <a:xfrm rot="0">
            <a:off x="1272805" y="1066534"/>
            <a:ext cx="5754708" cy="1020714"/>
            <a:chOff x="0" y="0"/>
            <a:chExt cx="7672945" cy="1360952"/>
          </a:xfrm>
        </p:grpSpPr>
        <p:grpSp>
          <p:nvGrpSpPr>
            <p:cNvPr name="Group 29" id="29"/>
            <p:cNvGrpSpPr/>
            <p:nvPr/>
          </p:nvGrpSpPr>
          <p:grpSpPr>
            <a:xfrm rot="0">
              <a:off x="0" y="0"/>
              <a:ext cx="7672945" cy="1360952"/>
              <a:chOff x="0" y="0"/>
              <a:chExt cx="2474667" cy="438932"/>
            </a:xfrm>
          </p:grpSpPr>
          <p:sp>
            <p:nvSpPr>
              <p:cNvPr name="Freeform 30" id="30"/>
              <p:cNvSpPr/>
              <p:nvPr/>
            </p:nvSpPr>
            <p:spPr>
              <a:xfrm flipH="false" flipV="false" rot="0">
                <a:off x="0" y="0"/>
                <a:ext cx="2474667" cy="438932"/>
              </a:xfrm>
              <a:custGeom>
                <a:avLst/>
                <a:gdLst/>
                <a:ahLst/>
                <a:cxnLst/>
                <a:rect r="r" b="b" t="t" l="l"/>
                <a:pathLst>
                  <a:path h="438932" w="2474667">
                    <a:moveTo>
                      <a:pt x="61885" y="0"/>
                    </a:moveTo>
                    <a:lnTo>
                      <a:pt x="2412782" y="0"/>
                    </a:lnTo>
                    <a:cubicBezTo>
                      <a:pt x="2446960" y="0"/>
                      <a:pt x="2474667" y="27707"/>
                      <a:pt x="2474667" y="61885"/>
                    </a:cubicBezTo>
                    <a:lnTo>
                      <a:pt x="2474667" y="377047"/>
                    </a:lnTo>
                    <a:cubicBezTo>
                      <a:pt x="2474667" y="393460"/>
                      <a:pt x="2468147" y="409201"/>
                      <a:pt x="2456541" y="420807"/>
                    </a:cubicBezTo>
                    <a:cubicBezTo>
                      <a:pt x="2444936" y="432412"/>
                      <a:pt x="2429195" y="438932"/>
                      <a:pt x="2412782" y="438932"/>
                    </a:cubicBezTo>
                    <a:lnTo>
                      <a:pt x="61885" y="438932"/>
                    </a:lnTo>
                    <a:cubicBezTo>
                      <a:pt x="27707" y="438932"/>
                      <a:pt x="0" y="411225"/>
                      <a:pt x="0" y="377047"/>
                    </a:cubicBezTo>
                    <a:lnTo>
                      <a:pt x="0" y="61885"/>
                    </a:lnTo>
                    <a:cubicBezTo>
                      <a:pt x="0" y="45472"/>
                      <a:pt x="6520" y="29731"/>
                      <a:pt x="18126" y="18126"/>
                    </a:cubicBezTo>
                    <a:cubicBezTo>
                      <a:pt x="29731" y="6520"/>
                      <a:pt x="45472" y="0"/>
                      <a:pt x="61885" y="0"/>
                    </a:cubicBezTo>
                    <a:close/>
                  </a:path>
                </a:pathLst>
              </a:custGeom>
              <a:solidFill>
                <a:srgbClr val="00385E"/>
              </a:solidFill>
              <a:ln w="38100" cap="rnd">
                <a:solidFill>
                  <a:srgbClr val="E9E5FF"/>
                </a:solidFill>
                <a:prstDash val="solid"/>
                <a:round/>
              </a:ln>
            </p:spPr>
          </p:sp>
          <p:sp>
            <p:nvSpPr>
              <p:cNvPr name="TextBox 31" id="31"/>
              <p:cNvSpPr txBox="true"/>
              <p:nvPr/>
            </p:nvSpPr>
            <p:spPr>
              <a:xfrm>
                <a:off x="0" y="-38100"/>
                <a:ext cx="2474667" cy="477032"/>
              </a:xfrm>
              <a:prstGeom prst="rect">
                <a:avLst/>
              </a:prstGeom>
            </p:spPr>
            <p:txBody>
              <a:bodyPr anchor="ctr" rtlCol="false" tIns="41187" lIns="41187" bIns="41187" rIns="41187"/>
              <a:lstStyle/>
              <a:p>
                <a:pPr algn="ctr">
                  <a:lnSpc>
                    <a:spcPts val="2659"/>
                  </a:lnSpc>
                  <a:spcBef>
                    <a:spcPct val="0"/>
                  </a:spcBef>
                </a:pPr>
              </a:p>
            </p:txBody>
          </p:sp>
        </p:grpSp>
        <p:sp>
          <p:nvSpPr>
            <p:cNvPr name="TextBox 32" id="32"/>
            <p:cNvSpPr txBox="true"/>
            <p:nvPr/>
          </p:nvSpPr>
          <p:spPr>
            <a:xfrm rot="0">
              <a:off x="752106" y="187234"/>
              <a:ext cx="6168733" cy="1024584"/>
            </a:xfrm>
            <a:prstGeom prst="rect">
              <a:avLst/>
            </a:prstGeom>
          </p:spPr>
          <p:txBody>
            <a:bodyPr anchor="t" rtlCol="false" tIns="0" lIns="0" bIns="0" rIns="0">
              <a:spAutoFit/>
            </a:bodyPr>
            <a:lstStyle/>
            <a:p>
              <a:pPr algn="ctr">
                <a:lnSpc>
                  <a:spcPts val="2855"/>
                </a:lnSpc>
              </a:pPr>
              <a:r>
                <a:rPr lang="en-US" sz="2855" b="true">
                  <a:solidFill>
                    <a:srgbClr val="E9E5FF"/>
                  </a:solidFill>
                  <a:latin typeface="Arimo Bold"/>
                  <a:ea typeface="Arimo Bold"/>
                  <a:cs typeface="Arimo Bold"/>
                  <a:sym typeface="Arimo Bold"/>
                </a:rPr>
                <a:t>Sumber dataset dan cara memperoleh data.</a:t>
              </a:r>
            </a:p>
          </p:txBody>
        </p:sp>
      </p:grpSp>
      <p:grpSp>
        <p:nvGrpSpPr>
          <p:cNvPr name="Group 33" id="33"/>
          <p:cNvGrpSpPr/>
          <p:nvPr/>
        </p:nvGrpSpPr>
        <p:grpSpPr>
          <a:xfrm rot="0">
            <a:off x="1172325" y="4645812"/>
            <a:ext cx="5754708" cy="1020723"/>
            <a:chOff x="0" y="0"/>
            <a:chExt cx="7672945" cy="1360964"/>
          </a:xfrm>
        </p:grpSpPr>
        <p:grpSp>
          <p:nvGrpSpPr>
            <p:cNvPr name="Group 34" id="34"/>
            <p:cNvGrpSpPr/>
            <p:nvPr/>
          </p:nvGrpSpPr>
          <p:grpSpPr>
            <a:xfrm rot="0">
              <a:off x="0" y="0"/>
              <a:ext cx="7672945" cy="1360964"/>
              <a:chOff x="0" y="0"/>
              <a:chExt cx="2474667" cy="438936"/>
            </a:xfrm>
          </p:grpSpPr>
          <p:sp>
            <p:nvSpPr>
              <p:cNvPr name="Freeform 35" id="35"/>
              <p:cNvSpPr/>
              <p:nvPr/>
            </p:nvSpPr>
            <p:spPr>
              <a:xfrm flipH="false" flipV="false" rot="0">
                <a:off x="0" y="0"/>
                <a:ext cx="2474667" cy="438936"/>
              </a:xfrm>
              <a:custGeom>
                <a:avLst/>
                <a:gdLst/>
                <a:ahLst/>
                <a:cxnLst/>
                <a:rect r="r" b="b" t="t" l="l"/>
                <a:pathLst>
                  <a:path h="438936" w="2474667">
                    <a:moveTo>
                      <a:pt x="61885" y="0"/>
                    </a:moveTo>
                    <a:lnTo>
                      <a:pt x="2412782" y="0"/>
                    </a:lnTo>
                    <a:cubicBezTo>
                      <a:pt x="2446960" y="0"/>
                      <a:pt x="2474667" y="27707"/>
                      <a:pt x="2474667" y="61885"/>
                    </a:cubicBezTo>
                    <a:lnTo>
                      <a:pt x="2474667" y="377051"/>
                    </a:lnTo>
                    <a:cubicBezTo>
                      <a:pt x="2474667" y="393464"/>
                      <a:pt x="2468147" y="409205"/>
                      <a:pt x="2456541" y="420811"/>
                    </a:cubicBezTo>
                    <a:cubicBezTo>
                      <a:pt x="2444936" y="432416"/>
                      <a:pt x="2429195" y="438936"/>
                      <a:pt x="2412782" y="438936"/>
                    </a:cubicBezTo>
                    <a:lnTo>
                      <a:pt x="61885" y="438936"/>
                    </a:lnTo>
                    <a:cubicBezTo>
                      <a:pt x="45472" y="438936"/>
                      <a:pt x="29731" y="432416"/>
                      <a:pt x="18126" y="420811"/>
                    </a:cubicBezTo>
                    <a:cubicBezTo>
                      <a:pt x="6520" y="409205"/>
                      <a:pt x="0" y="393464"/>
                      <a:pt x="0" y="377051"/>
                    </a:cubicBezTo>
                    <a:lnTo>
                      <a:pt x="0" y="61885"/>
                    </a:lnTo>
                    <a:cubicBezTo>
                      <a:pt x="0" y="45472"/>
                      <a:pt x="6520" y="29731"/>
                      <a:pt x="18126" y="18126"/>
                    </a:cubicBezTo>
                    <a:cubicBezTo>
                      <a:pt x="29731" y="6520"/>
                      <a:pt x="45472" y="0"/>
                      <a:pt x="61885" y="0"/>
                    </a:cubicBezTo>
                    <a:close/>
                  </a:path>
                </a:pathLst>
              </a:custGeom>
              <a:solidFill>
                <a:srgbClr val="00385E"/>
              </a:solidFill>
              <a:ln w="38100" cap="rnd">
                <a:solidFill>
                  <a:srgbClr val="E9E5FF"/>
                </a:solidFill>
                <a:prstDash val="solid"/>
                <a:round/>
              </a:ln>
            </p:spPr>
          </p:sp>
          <p:sp>
            <p:nvSpPr>
              <p:cNvPr name="TextBox 36" id="36"/>
              <p:cNvSpPr txBox="true"/>
              <p:nvPr/>
            </p:nvSpPr>
            <p:spPr>
              <a:xfrm>
                <a:off x="0" y="-38100"/>
                <a:ext cx="2474667" cy="477036"/>
              </a:xfrm>
              <a:prstGeom prst="rect">
                <a:avLst/>
              </a:prstGeom>
            </p:spPr>
            <p:txBody>
              <a:bodyPr anchor="ctr" rtlCol="false" tIns="41187" lIns="41187" bIns="41187" rIns="41187"/>
              <a:lstStyle/>
              <a:p>
                <a:pPr algn="ctr">
                  <a:lnSpc>
                    <a:spcPts val="2659"/>
                  </a:lnSpc>
                  <a:spcBef>
                    <a:spcPct val="0"/>
                  </a:spcBef>
                </a:pPr>
              </a:p>
            </p:txBody>
          </p:sp>
        </p:grpSp>
        <p:sp>
          <p:nvSpPr>
            <p:cNvPr name="TextBox 37" id="37"/>
            <p:cNvSpPr txBox="true"/>
            <p:nvPr/>
          </p:nvSpPr>
          <p:spPr>
            <a:xfrm rot="0">
              <a:off x="752106" y="187234"/>
              <a:ext cx="6168733" cy="1024596"/>
            </a:xfrm>
            <a:prstGeom prst="rect">
              <a:avLst/>
            </a:prstGeom>
          </p:spPr>
          <p:txBody>
            <a:bodyPr anchor="t" rtlCol="false" tIns="0" lIns="0" bIns="0" rIns="0">
              <a:spAutoFit/>
            </a:bodyPr>
            <a:lstStyle/>
            <a:p>
              <a:pPr algn="ctr">
                <a:lnSpc>
                  <a:spcPts val="2855"/>
                </a:lnSpc>
              </a:pPr>
              <a:r>
                <a:rPr lang="en-US" sz="2855" b="true">
                  <a:solidFill>
                    <a:srgbClr val="E9E5FF"/>
                  </a:solidFill>
                  <a:latin typeface="Arimo Bold"/>
                  <a:ea typeface="Arimo Bold"/>
                  <a:cs typeface="Arimo Bold"/>
                  <a:sym typeface="Arimo Bold"/>
                </a:rPr>
                <a:t>Variabel penting serta target/label.</a:t>
              </a:r>
            </a:p>
          </p:txBody>
        </p:sp>
      </p:grpSp>
      <p:grpSp>
        <p:nvGrpSpPr>
          <p:cNvPr name="Group 38" id="38"/>
          <p:cNvGrpSpPr/>
          <p:nvPr/>
        </p:nvGrpSpPr>
        <p:grpSpPr>
          <a:xfrm rot="0">
            <a:off x="10302233" y="4725933"/>
            <a:ext cx="6412949" cy="733786"/>
            <a:chOff x="0" y="0"/>
            <a:chExt cx="8550599" cy="978381"/>
          </a:xfrm>
        </p:grpSpPr>
        <p:grpSp>
          <p:nvGrpSpPr>
            <p:cNvPr name="Group 39" id="39"/>
            <p:cNvGrpSpPr/>
            <p:nvPr/>
          </p:nvGrpSpPr>
          <p:grpSpPr>
            <a:xfrm rot="0">
              <a:off x="0" y="0"/>
              <a:ext cx="8550599" cy="978381"/>
              <a:chOff x="0" y="0"/>
              <a:chExt cx="2474667" cy="283158"/>
            </a:xfrm>
          </p:grpSpPr>
          <p:sp>
            <p:nvSpPr>
              <p:cNvPr name="Freeform 40" id="40"/>
              <p:cNvSpPr/>
              <p:nvPr/>
            </p:nvSpPr>
            <p:spPr>
              <a:xfrm flipH="false" flipV="false" rot="0">
                <a:off x="0" y="0"/>
                <a:ext cx="2474667" cy="283158"/>
              </a:xfrm>
              <a:custGeom>
                <a:avLst/>
                <a:gdLst/>
                <a:ahLst/>
                <a:cxnLst/>
                <a:rect r="r" b="b" t="t" l="l"/>
                <a:pathLst>
                  <a:path h="283158" w="2474667">
                    <a:moveTo>
                      <a:pt x="61885" y="0"/>
                    </a:moveTo>
                    <a:lnTo>
                      <a:pt x="2412782" y="0"/>
                    </a:lnTo>
                    <a:cubicBezTo>
                      <a:pt x="2446960" y="0"/>
                      <a:pt x="2474667" y="27707"/>
                      <a:pt x="2474667" y="61885"/>
                    </a:cubicBezTo>
                    <a:lnTo>
                      <a:pt x="2474667" y="221273"/>
                    </a:lnTo>
                    <a:cubicBezTo>
                      <a:pt x="2474667" y="237686"/>
                      <a:pt x="2468147" y="253426"/>
                      <a:pt x="2456541" y="265032"/>
                    </a:cubicBezTo>
                    <a:cubicBezTo>
                      <a:pt x="2444936" y="276638"/>
                      <a:pt x="2429195" y="283158"/>
                      <a:pt x="2412782" y="283158"/>
                    </a:cubicBezTo>
                    <a:lnTo>
                      <a:pt x="61885" y="283158"/>
                    </a:lnTo>
                    <a:cubicBezTo>
                      <a:pt x="45472" y="283158"/>
                      <a:pt x="29731" y="276638"/>
                      <a:pt x="18126" y="265032"/>
                    </a:cubicBezTo>
                    <a:cubicBezTo>
                      <a:pt x="6520" y="253426"/>
                      <a:pt x="0" y="237686"/>
                      <a:pt x="0" y="221273"/>
                    </a:cubicBezTo>
                    <a:lnTo>
                      <a:pt x="0" y="61885"/>
                    </a:lnTo>
                    <a:cubicBezTo>
                      <a:pt x="0" y="45472"/>
                      <a:pt x="6520" y="29731"/>
                      <a:pt x="18126" y="18126"/>
                    </a:cubicBezTo>
                    <a:cubicBezTo>
                      <a:pt x="29731" y="6520"/>
                      <a:pt x="45472" y="0"/>
                      <a:pt x="61885" y="0"/>
                    </a:cubicBezTo>
                    <a:close/>
                  </a:path>
                </a:pathLst>
              </a:custGeom>
              <a:solidFill>
                <a:srgbClr val="00385E"/>
              </a:solidFill>
              <a:ln w="38100" cap="rnd">
                <a:solidFill>
                  <a:srgbClr val="E9E5FF"/>
                </a:solidFill>
                <a:prstDash val="solid"/>
                <a:round/>
              </a:ln>
            </p:spPr>
          </p:sp>
          <p:sp>
            <p:nvSpPr>
              <p:cNvPr name="TextBox 41" id="41"/>
              <p:cNvSpPr txBox="true"/>
              <p:nvPr/>
            </p:nvSpPr>
            <p:spPr>
              <a:xfrm>
                <a:off x="0" y="-38100"/>
                <a:ext cx="2474667" cy="321258"/>
              </a:xfrm>
              <a:prstGeom prst="rect">
                <a:avLst/>
              </a:prstGeom>
            </p:spPr>
            <p:txBody>
              <a:bodyPr anchor="ctr" rtlCol="false" tIns="41187" lIns="41187" bIns="41187" rIns="41187"/>
              <a:lstStyle/>
              <a:p>
                <a:pPr algn="ctr">
                  <a:lnSpc>
                    <a:spcPts val="2659"/>
                  </a:lnSpc>
                  <a:spcBef>
                    <a:spcPct val="0"/>
                  </a:spcBef>
                </a:pPr>
              </a:p>
            </p:txBody>
          </p:sp>
        </p:grpSp>
        <p:sp>
          <p:nvSpPr>
            <p:cNvPr name="TextBox 42" id="42"/>
            <p:cNvSpPr txBox="true"/>
            <p:nvPr/>
          </p:nvSpPr>
          <p:spPr>
            <a:xfrm rot="0">
              <a:off x="838134" y="204292"/>
              <a:ext cx="6874332" cy="607896"/>
            </a:xfrm>
            <a:prstGeom prst="rect">
              <a:avLst/>
            </a:prstGeom>
          </p:spPr>
          <p:txBody>
            <a:bodyPr anchor="t" rtlCol="false" tIns="0" lIns="0" bIns="0" rIns="0">
              <a:spAutoFit/>
            </a:bodyPr>
            <a:lstStyle/>
            <a:p>
              <a:pPr algn="ctr">
                <a:lnSpc>
                  <a:spcPts val="3181"/>
                </a:lnSpc>
              </a:pPr>
              <a:r>
                <a:rPr lang="en-US" sz="3181" b="true">
                  <a:solidFill>
                    <a:srgbClr val="E9E5FF"/>
                  </a:solidFill>
                  <a:latin typeface="Arimo Bold"/>
                  <a:ea typeface="Arimo Bold"/>
                  <a:cs typeface="Arimo Bold"/>
                  <a:sym typeface="Arimo Bold"/>
                </a:rPr>
                <a:t>Masalah awal</a:t>
              </a:r>
            </a:p>
          </p:txBody>
        </p:sp>
      </p:grpSp>
      <p:grpSp>
        <p:nvGrpSpPr>
          <p:cNvPr name="Group 43" id="43"/>
          <p:cNvGrpSpPr/>
          <p:nvPr/>
        </p:nvGrpSpPr>
        <p:grpSpPr>
          <a:xfrm rot="0">
            <a:off x="5528558" y="7316678"/>
            <a:ext cx="5754708" cy="658468"/>
            <a:chOff x="0" y="0"/>
            <a:chExt cx="7672945" cy="877958"/>
          </a:xfrm>
        </p:grpSpPr>
        <p:grpSp>
          <p:nvGrpSpPr>
            <p:cNvPr name="Group 44" id="44"/>
            <p:cNvGrpSpPr/>
            <p:nvPr/>
          </p:nvGrpSpPr>
          <p:grpSpPr>
            <a:xfrm rot="0">
              <a:off x="0" y="0"/>
              <a:ext cx="7672945" cy="877958"/>
              <a:chOff x="0" y="0"/>
              <a:chExt cx="2474667" cy="283158"/>
            </a:xfrm>
          </p:grpSpPr>
          <p:sp>
            <p:nvSpPr>
              <p:cNvPr name="Freeform 45" id="45"/>
              <p:cNvSpPr/>
              <p:nvPr/>
            </p:nvSpPr>
            <p:spPr>
              <a:xfrm flipH="false" flipV="false" rot="0">
                <a:off x="0" y="0"/>
                <a:ext cx="2474667" cy="283158"/>
              </a:xfrm>
              <a:custGeom>
                <a:avLst/>
                <a:gdLst/>
                <a:ahLst/>
                <a:cxnLst/>
                <a:rect r="r" b="b" t="t" l="l"/>
                <a:pathLst>
                  <a:path h="283158" w="2474667">
                    <a:moveTo>
                      <a:pt x="61885" y="0"/>
                    </a:moveTo>
                    <a:lnTo>
                      <a:pt x="2412782" y="0"/>
                    </a:lnTo>
                    <a:cubicBezTo>
                      <a:pt x="2446960" y="0"/>
                      <a:pt x="2474667" y="27707"/>
                      <a:pt x="2474667" y="61885"/>
                    </a:cubicBezTo>
                    <a:lnTo>
                      <a:pt x="2474667" y="221273"/>
                    </a:lnTo>
                    <a:cubicBezTo>
                      <a:pt x="2474667" y="237686"/>
                      <a:pt x="2468147" y="253426"/>
                      <a:pt x="2456541" y="265032"/>
                    </a:cubicBezTo>
                    <a:cubicBezTo>
                      <a:pt x="2444936" y="276638"/>
                      <a:pt x="2429195" y="283158"/>
                      <a:pt x="2412782" y="283158"/>
                    </a:cubicBezTo>
                    <a:lnTo>
                      <a:pt x="61885" y="283158"/>
                    </a:lnTo>
                    <a:cubicBezTo>
                      <a:pt x="45472" y="283158"/>
                      <a:pt x="29731" y="276638"/>
                      <a:pt x="18126" y="265032"/>
                    </a:cubicBezTo>
                    <a:cubicBezTo>
                      <a:pt x="6520" y="253426"/>
                      <a:pt x="0" y="237686"/>
                      <a:pt x="0" y="221273"/>
                    </a:cubicBezTo>
                    <a:lnTo>
                      <a:pt x="0" y="61885"/>
                    </a:lnTo>
                    <a:cubicBezTo>
                      <a:pt x="0" y="45472"/>
                      <a:pt x="6520" y="29731"/>
                      <a:pt x="18126" y="18126"/>
                    </a:cubicBezTo>
                    <a:cubicBezTo>
                      <a:pt x="29731" y="6520"/>
                      <a:pt x="45472" y="0"/>
                      <a:pt x="61885" y="0"/>
                    </a:cubicBezTo>
                    <a:close/>
                  </a:path>
                </a:pathLst>
              </a:custGeom>
              <a:solidFill>
                <a:srgbClr val="00385E"/>
              </a:solidFill>
              <a:ln w="38100" cap="rnd">
                <a:solidFill>
                  <a:srgbClr val="E9E5FF"/>
                </a:solidFill>
                <a:prstDash val="solid"/>
                <a:round/>
              </a:ln>
            </p:spPr>
          </p:sp>
          <p:sp>
            <p:nvSpPr>
              <p:cNvPr name="TextBox 46" id="46"/>
              <p:cNvSpPr txBox="true"/>
              <p:nvPr/>
            </p:nvSpPr>
            <p:spPr>
              <a:xfrm>
                <a:off x="0" y="-38100"/>
                <a:ext cx="2474667" cy="321258"/>
              </a:xfrm>
              <a:prstGeom prst="rect">
                <a:avLst/>
              </a:prstGeom>
            </p:spPr>
            <p:txBody>
              <a:bodyPr anchor="ctr" rtlCol="false" tIns="41187" lIns="41187" bIns="41187" rIns="41187"/>
              <a:lstStyle/>
              <a:p>
                <a:pPr algn="ctr">
                  <a:lnSpc>
                    <a:spcPts val="2659"/>
                  </a:lnSpc>
                  <a:spcBef>
                    <a:spcPct val="0"/>
                  </a:spcBef>
                </a:pPr>
              </a:p>
            </p:txBody>
          </p:sp>
        </p:grpSp>
        <p:sp>
          <p:nvSpPr>
            <p:cNvPr name="TextBox 47" id="47"/>
            <p:cNvSpPr txBox="true"/>
            <p:nvPr/>
          </p:nvSpPr>
          <p:spPr>
            <a:xfrm rot="0">
              <a:off x="752106" y="187234"/>
              <a:ext cx="6168733" cy="541590"/>
            </a:xfrm>
            <a:prstGeom prst="rect">
              <a:avLst/>
            </a:prstGeom>
          </p:spPr>
          <p:txBody>
            <a:bodyPr anchor="t" rtlCol="false" tIns="0" lIns="0" bIns="0" rIns="0">
              <a:spAutoFit/>
            </a:bodyPr>
            <a:lstStyle/>
            <a:p>
              <a:pPr algn="ctr">
                <a:lnSpc>
                  <a:spcPts val="2855"/>
                </a:lnSpc>
              </a:pPr>
              <a:r>
                <a:rPr lang="en-US" sz="2855" b="true">
                  <a:solidFill>
                    <a:srgbClr val="E9E5FF"/>
                  </a:solidFill>
                  <a:latin typeface="Arimo Bold"/>
                  <a:ea typeface="Arimo Bold"/>
                  <a:cs typeface="Arimo Bold"/>
                  <a:sym typeface="Arimo Bold"/>
                </a:rPr>
                <a:t>Preprocessing</a:t>
              </a:r>
            </a:p>
          </p:txBody>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144830" y="0"/>
            <a:ext cx="16780616" cy="10287000"/>
          </a:xfrm>
          <a:custGeom>
            <a:avLst/>
            <a:gdLst/>
            <a:ahLst/>
            <a:cxnLst/>
            <a:rect r="r" b="b" t="t" l="l"/>
            <a:pathLst>
              <a:path h="10287000" w="16780616">
                <a:moveTo>
                  <a:pt x="0" y="0"/>
                </a:moveTo>
                <a:lnTo>
                  <a:pt x="16780616" y="0"/>
                </a:lnTo>
                <a:lnTo>
                  <a:pt x="16780616" y="10287000"/>
                </a:lnTo>
                <a:lnTo>
                  <a:pt x="0" y="10287000"/>
                </a:lnTo>
                <a:lnTo>
                  <a:pt x="0" y="0"/>
                </a:lnTo>
                <a:close/>
              </a:path>
            </a:pathLst>
          </a:custGeom>
          <a:blipFill>
            <a:blip r:embed="rId2"/>
            <a:stretch>
              <a:fillRect l="0" t="-2348" r="0" b="-2348"/>
            </a:stretch>
          </a:blipFill>
        </p:spPr>
      </p:sp>
      <p:sp>
        <p:nvSpPr>
          <p:cNvPr name="Freeform 3" id="3"/>
          <p:cNvSpPr/>
          <p:nvPr/>
        </p:nvSpPr>
        <p:spPr>
          <a:xfrm flipH="false" flipV="false" rot="0">
            <a:off x="1028700" y="2121146"/>
            <a:ext cx="8655481" cy="5620720"/>
          </a:xfrm>
          <a:custGeom>
            <a:avLst/>
            <a:gdLst/>
            <a:ahLst/>
            <a:cxnLst/>
            <a:rect r="r" b="b" t="t" l="l"/>
            <a:pathLst>
              <a:path h="5620720" w="8655481">
                <a:moveTo>
                  <a:pt x="0" y="0"/>
                </a:moveTo>
                <a:lnTo>
                  <a:pt x="8655481" y="0"/>
                </a:lnTo>
                <a:lnTo>
                  <a:pt x="8655481" y="5620720"/>
                </a:lnTo>
                <a:lnTo>
                  <a:pt x="0" y="5620720"/>
                </a:lnTo>
                <a:lnTo>
                  <a:pt x="0" y="0"/>
                </a:lnTo>
                <a:close/>
              </a:path>
            </a:pathLst>
          </a:custGeom>
          <a:blipFill>
            <a:blip r:embed="rId3"/>
            <a:stretch>
              <a:fillRect l="0" t="0" r="0" b="0"/>
            </a:stretch>
          </a:blipFill>
        </p:spPr>
      </p:sp>
      <p:sp>
        <p:nvSpPr>
          <p:cNvPr name="TextBox 4" id="4"/>
          <p:cNvSpPr txBox="true"/>
          <p:nvPr/>
        </p:nvSpPr>
        <p:spPr>
          <a:xfrm rot="0">
            <a:off x="1028700" y="1104900"/>
            <a:ext cx="8115300" cy="679450"/>
          </a:xfrm>
          <a:prstGeom prst="rect">
            <a:avLst/>
          </a:prstGeom>
        </p:spPr>
        <p:txBody>
          <a:bodyPr anchor="t" rtlCol="false" tIns="0" lIns="0" bIns="0" rIns="0">
            <a:spAutoFit/>
          </a:bodyPr>
          <a:lstStyle/>
          <a:p>
            <a:pPr algn="l">
              <a:lnSpc>
                <a:spcPts val="5000"/>
              </a:lnSpc>
            </a:pPr>
            <a:r>
              <a:rPr lang="en-US" sz="5000" spc="140" b="true">
                <a:solidFill>
                  <a:srgbClr val="FFFFFF"/>
                </a:solidFill>
                <a:latin typeface="Tomorrow Bold"/>
                <a:ea typeface="Tomorrow Bold"/>
                <a:cs typeface="Tomorrow Bold"/>
                <a:sym typeface="Tomorrow Bold"/>
              </a:rPr>
              <a:t>Hasil dan pembahasan</a:t>
            </a:r>
          </a:p>
        </p:txBody>
      </p:sp>
      <p:sp>
        <p:nvSpPr>
          <p:cNvPr name="TextBox 5" id="5"/>
          <p:cNvSpPr txBox="true"/>
          <p:nvPr/>
        </p:nvSpPr>
        <p:spPr>
          <a:xfrm rot="0">
            <a:off x="1028700" y="8126286"/>
            <a:ext cx="13133383" cy="1433195"/>
          </a:xfrm>
          <a:prstGeom prst="rect">
            <a:avLst/>
          </a:prstGeom>
        </p:spPr>
        <p:txBody>
          <a:bodyPr anchor="t" rtlCol="false" tIns="0" lIns="0" bIns="0" rIns="0">
            <a:spAutoFit/>
          </a:bodyPr>
          <a:lstStyle/>
          <a:p>
            <a:pPr algn="l">
              <a:lnSpc>
                <a:spcPts val="2800"/>
              </a:lnSpc>
            </a:pPr>
            <a:r>
              <a:rPr lang="en-US" sz="2800" spc="78">
                <a:solidFill>
                  <a:srgbClr val="FFFFFF"/>
                </a:solidFill>
                <a:latin typeface="Tomorrow"/>
                <a:ea typeface="Tomorrow"/>
                <a:cs typeface="Tomorrow"/>
                <a:sym typeface="Tomorrow"/>
              </a:rPr>
              <a:t>Visualisasi distribusi fitur menunjukkan bahwa sebelum transformasi, variabel reviewsCount sangat condong ke kiri (right-skewed), di mana mayoritas destinasi memiliki ulasan sedikit namun ada segelintir destinasi dengan ulasan sangat ekstrem.</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144830" y="0"/>
            <a:ext cx="17891763" cy="10287000"/>
          </a:xfrm>
          <a:custGeom>
            <a:avLst/>
            <a:gdLst/>
            <a:ahLst/>
            <a:cxnLst/>
            <a:rect r="r" b="b" t="t" l="l"/>
            <a:pathLst>
              <a:path h="10287000" w="17891763">
                <a:moveTo>
                  <a:pt x="0" y="0"/>
                </a:moveTo>
                <a:lnTo>
                  <a:pt x="17891763" y="0"/>
                </a:lnTo>
                <a:lnTo>
                  <a:pt x="17891763" y="10287000"/>
                </a:lnTo>
                <a:lnTo>
                  <a:pt x="0" y="10287000"/>
                </a:lnTo>
                <a:lnTo>
                  <a:pt x="0" y="0"/>
                </a:lnTo>
                <a:close/>
              </a:path>
            </a:pathLst>
          </a:custGeom>
          <a:blipFill>
            <a:blip r:embed="rId2"/>
            <a:stretch>
              <a:fillRect l="0" t="-5814" r="0" b="-5814"/>
            </a:stretch>
          </a:blipFill>
        </p:spPr>
      </p:sp>
      <p:sp>
        <p:nvSpPr>
          <p:cNvPr name="Freeform 3" id="3"/>
          <p:cNvSpPr/>
          <p:nvPr/>
        </p:nvSpPr>
        <p:spPr>
          <a:xfrm flipH="false" flipV="false" rot="0">
            <a:off x="1028700" y="2312721"/>
            <a:ext cx="7712423" cy="5135057"/>
          </a:xfrm>
          <a:custGeom>
            <a:avLst/>
            <a:gdLst/>
            <a:ahLst/>
            <a:cxnLst/>
            <a:rect r="r" b="b" t="t" l="l"/>
            <a:pathLst>
              <a:path h="5135057" w="7712423">
                <a:moveTo>
                  <a:pt x="0" y="0"/>
                </a:moveTo>
                <a:lnTo>
                  <a:pt x="7712423" y="0"/>
                </a:lnTo>
                <a:lnTo>
                  <a:pt x="7712423" y="5135058"/>
                </a:lnTo>
                <a:lnTo>
                  <a:pt x="0" y="5135058"/>
                </a:lnTo>
                <a:lnTo>
                  <a:pt x="0" y="0"/>
                </a:lnTo>
                <a:close/>
              </a:path>
            </a:pathLst>
          </a:custGeom>
          <a:blipFill>
            <a:blip r:embed="rId3"/>
            <a:stretch>
              <a:fillRect l="0" t="0" r="0" b="0"/>
            </a:stretch>
          </a:blipFill>
        </p:spPr>
      </p:sp>
      <p:sp>
        <p:nvSpPr>
          <p:cNvPr name="TextBox 4" id="4"/>
          <p:cNvSpPr txBox="true"/>
          <p:nvPr/>
        </p:nvSpPr>
        <p:spPr>
          <a:xfrm rot="0">
            <a:off x="1028700" y="1104900"/>
            <a:ext cx="8115300" cy="679450"/>
          </a:xfrm>
          <a:prstGeom prst="rect">
            <a:avLst/>
          </a:prstGeom>
        </p:spPr>
        <p:txBody>
          <a:bodyPr anchor="t" rtlCol="false" tIns="0" lIns="0" bIns="0" rIns="0">
            <a:spAutoFit/>
          </a:bodyPr>
          <a:lstStyle/>
          <a:p>
            <a:pPr algn="l">
              <a:lnSpc>
                <a:spcPts val="5000"/>
              </a:lnSpc>
            </a:pPr>
            <a:r>
              <a:rPr lang="en-US" sz="5000" spc="140" b="true">
                <a:solidFill>
                  <a:srgbClr val="FFFFFF"/>
                </a:solidFill>
                <a:latin typeface="Tomorrow Bold"/>
                <a:ea typeface="Tomorrow Bold"/>
                <a:cs typeface="Tomorrow Bold"/>
                <a:sym typeface="Tomorrow Bold"/>
              </a:rPr>
              <a:t>Hasil dan pembahasan</a:t>
            </a:r>
          </a:p>
        </p:txBody>
      </p:sp>
      <p:sp>
        <p:nvSpPr>
          <p:cNvPr name="TextBox 5" id="5"/>
          <p:cNvSpPr txBox="true"/>
          <p:nvPr/>
        </p:nvSpPr>
        <p:spPr>
          <a:xfrm rot="0">
            <a:off x="1028700" y="8269678"/>
            <a:ext cx="15144738" cy="1433195"/>
          </a:xfrm>
          <a:prstGeom prst="rect">
            <a:avLst/>
          </a:prstGeom>
        </p:spPr>
        <p:txBody>
          <a:bodyPr anchor="t" rtlCol="false" tIns="0" lIns="0" bIns="0" rIns="0">
            <a:spAutoFit/>
          </a:bodyPr>
          <a:lstStyle/>
          <a:p>
            <a:pPr algn="l">
              <a:lnSpc>
                <a:spcPts val="2800"/>
              </a:lnSpc>
            </a:pPr>
            <a:r>
              <a:rPr lang="en-US" sz="2800" spc="78">
                <a:solidFill>
                  <a:srgbClr val="FFFFFF"/>
                </a:solidFill>
                <a:latin typeface="Tomorrow"/>
                <a:ea typeface="Tomorrow"/>
                <a:cs typeface="Tomorrow"/>
                <a:sym typeface="Tomorrow"/>
              </a:rPr>
              <a:t>Setelah dilakukan log transform, distribusi data pada variabel reviewsCount_log menjadi lebih simetris dan terpusat (mendekati distribusi normal), sehingga lebih optimal untuk diproses oleh algoritma K-Means. Hasil normalisasi fitur juga berhasil menstandarkan nilai mean menjadi mendekati 0 dan standar deviasi menjadi 1.</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144830" y="0"/>
            <a:ext cx="17784233" cy="10287000"/>
          </a:xfrm>
          <a:custGeom>
            <a:avLst/>
            <a:gdLst/>
            <a:ahLst/>
            <a:cxnLst/>
            <a:rect r="r" b="b" t="t" l="l"/>
            <a:pathLst>
              <a:path h="10287000" w="17784233">
                <a:moveTo>
                  <a:pt x="0" y="0"/>
                </a:moveTo>
                <a:lnTo>
                  <a:pt x="17784232" y="0"/>
                </a:lnTo>
                <a:lnTo>
                  <a:pt x="17784232" y="10287000"/>
                </a:lnTo>
                <a:lnTo>
                  <a:pt x="0" y="10287000"/>
                </a:lnTo>
                <a:lnTo>
                  <a:pt x="0" y="0"/>
                </a:lnTo>
                <a:close/>
              </a:path>
            </a:pathLst>
          </a:custGeom>
          <a:blipFill>
            <a:blip r:embed="rId2"/>
            <a:stretch>
              <a:fillRect l="0" t="-5478" r="0" b="-5478"/>
            </a:stretch>
          </a:blipFill>
        </p:spPr>
      </p:sp>
      <p:sp>
        <p:nvSpPr>
          <p:cNvPr name="Freeform 3" id="3"/>
          <p:cNvSpPr/>
          <p:nvPr/>
        </p:nvSpPr>
        <p:spPr>
          <a:xfrm flipH="false" flipV="false" rot="0">
            <a:off x="1028700" y="1976554"/>
            <a:ext cx="13732611" cy="5359068"/>
          </a:xfrm>
          <a:custGeom>
            <a:avLst/>
            <a:gdLst/>
            <a:ahLst/>
            <a:cxnLst/>
            <a:rect r="r" b="b" t="t" l="l"/>
            <a:pathLst>
              <a:path h="5359068" w="13732611">
                <a:moveTo>
                  <a:pt x="0" y="0"/>
                </a:moveTo>
                <a:lnTo>
                  <a:pt x="13732611" y="0"/>
                </a:lnTo>
                <a:lnTo>
                  <a:pt x="13732611" y="5359068"/>
                </a:lnTo>
                <a:lnTo>
                  <a:pt x="0" y="5359068"/>
                </a:lnTo>
                <a:lnTo>
                  <a:pt x="0" y="0"/>
                </a:lnTo>
                <a:close/>
              </a:path>
            </a:pathLst>
          </a:custGeom>
          <a:blipFill>
            <a:blip r:embed="rId3"/>
            <a:stretch>
              <a:fillRect l="0" t="0" r="0" b="0"/>
            </a:stretch>
          </a:blipFill>
        </p:spPr>
      </p:sp>
      <p:sp>
        <p:nvSpPr>
          <p:cNvPr name="TextBox 4" id="4"/>
          <p:cNvSpPr txBox="true"/>
          <p:nvPr/>
        </p:nvSpPr>
        <p:spPr>
          <a:xfrm rot="0">
            <a:off x="1028700" y="1104900"/>
            <a:ext cx="8115300" cy="679450"/>
          </a:xfrm>
          <a:prstGeom prst="rect">
            <a:avLst/>
          </a:prstGeom>
        </p:spPr>
        <p:txBody>
          <a:bodyPr anchor="t" rtlCol="false" tIns="0" lIns="0" bIns="0" rIns="0">
            <a:spAutoFit/>
          </a:bodyPr>
          <a:lstStyle/>
          <a:p>
            <a:pPr algn="l">
              <a:lnSpc>
                <a:spcPts val="5000"/>
              </a:lnSpc>
            </a:pPr>
            <a:r>
              <a:rPr lang="en-US" sz="5000" spc="140" b="true">
                <a:solidFill>
                  <a:srgbClr val="FFFFFF"/>
                </a:solidFill>
                <a:latin typeface="Tomorrow Bold"/>
                <a:ea typeface="Tomorrow Bold"/>
                <a:cs typeface="Tomorrow Bold"/>
                <a:sym typeface="Tomorrow Bold"/>
              </a:rPr>
              <a:t>Hasil model</a:t>
            </a:r>
          </a:p>
        </p:txBody>
      </p:sp>
      <p:sp>
        <p:nvSpPr>
          <p:cNvPr name="TextBox 5" id="5"/>
          <p:cNvSpPr txBox="true"/>
          <p:nvPr/>
        </p:nvSpPr>
        <p:spPr>
          <a:xfrm rot="0">
            <a:off x="1028700" y="7739380"/>
            <a:ext cx="14141121" cy="1785620"/>
          </a:xfrm>
          <a:prstGeom prst="rect">
            <a:avLst/>
          </a:prstGeom>
        </p:spPr>
        <p:txBody>
          <a:bodyPr anchor="t" rtlCol="false" tIns="0" lIns="0" bIns="0" rIns="0">
            <a:spAutoFit/>
          </a:bodyPr>
          <a:lstStyle/>
          <a:p>
            <a:pPr algn="l">
              <a:lnSpc>
                <a:spcPts val="2800"/>
              </a:lnSpc>
            </a:pPr>
            <a:r>
              <a:rPr lang="en-US" sz="2800" spc="78">
                <a:solidFill>
                  <a:srgbClr val="FFFFFF"/>
                </a:solidFill>
                <a:latin typeface="Tomorrow"/>
                <a:ea typeface="Tomorrow"/>
                <a:cs typeface="Tomorrow"/>
                <a:sym typeface="Tomorrow"/>
              </a:rPr>
              <a:t>Proses pencarian nilai K terbaik (K=2 s.d 10) menghasilkan grafik Elbow Method dan Silhouette Score. Berdasarkan perhitungan jarak matematis pada grafik Elbow, penurunan WCSS (Within-Cluster Sum of Square)/Inertia mulai melandai pada titik K = 4. Sementara itu, titik puncak tertinggi pada grafik Silhouette Score berada pada nilai K = 3.</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144830" y="0"/>
            <a:ext cx="18905939" cy="10287000"/>
          </a:xfrm>
          <a:custGeom>
            <a:avLst/>
            <a:gdLst/>
            <a:ahLst/>
            <a:cxnLst/>
            <a:rect r="r" b="b" t="t" l="l"/>
            <a:pathLst>
              <a:path h="10287000" w="18905939">
                <a:moveTo>
                  <a:pt x="0" y="0"/>
                </a:moveTo>
                <a:lnTo>
                  <a:pt x="18905938" y="0"/>
                </a:lnTo>
                <a:lnTo>
                  <a:pt x="18905938" y="10287000"/>
                </a:lnTo>
                <a:lnTo>
                  <a:pt x="0" y="10287000"/>
                </a:lnTo>
                <a:lnTo>
                  <a:pt x="0" y="0"/>
                </a:lnTo>
                <a:close/>
              </a:path>
            </a:pathLst>
          </a:custGeom>
          <a:blipFill>
            <a:blip r:embed="rId2"/>
            <a:stretch>
              <a:fillRect l="0" t="-8978" r="0" b="-8978"/>
            </a:stretch>
          </a:blipFill>
        </p:spPr>
      </p:sp>
      <p:sp>
        <p:nvSpPr>
          <p:cNvPr name="Freeform 3" id="3"/>
          <p:cNvSpPr/>
          <p:nvPr/>
        </p:nvSpPr>
        <p:spPr>
          <a:xfrm flipH="false" flipV="false" rot="0">
            <a:off x="1028700" y="1876572"/>
            <a:ext cx="16230600" cy="6533857"/>
          </a:xfrm>
          <a:custGeom>
            <a:avLst/>
            <a:gdLst/>
            <a:ahLst/>
            <a:cxnLst/>
            <a:rect r="r" b="b" t="t" l="l"/>
            <a:pathLst>
              <a:path h="6533857" w="16230600">
                <a:moveTo>
                  <a:pt x="0" y="0"/>
                </a:moveTo>
                <a:lnTo>
                  <a:pt x="16230600" y="0"/>
                </a:lnTo>
                <a:lnTo>
                  <a:pt x="16230600" y="6533856"/>
                </a:lnTo>
                <a:lnTo>
                  <a:pt x="0" y="6533856"/>
                </a:lnTo>
                <a:lnTo>
                  <a:pt x="0" y="0"/>
                </a:lnTo>
                <a:close/>
              </a:path>
            </a:pathLst>
          </a:custGeom>
          <a:blipFill>
            <a:blip r:embed="rId3"/>
            <a:stretch>
              <a:fillRect l="0" t="0" r="0" b="0"/>
            </a:stretch>
          </a:blipFill>
        </p:spPr>
      </p:sp>
      <p:sp>
        <p:nvSpPr>
          <p:cNvPr name="TextBox 4" id="4"/>
          <p:cNvSpPr txBox="true"/>
          <p:nvPr/>
        </p:nvSpPr>
        <p:spPr>
          <a:xfrm rot="0">
            <a:off x="1028700" y="1104900"/>
            <a:ext cx="8115300" cy="679525"/>
          </a:xfrm>
          <a:prstGeom prst="rect">
            <a:avLst/>
          </a:prstGeom>
        </p:spPr>
        <p:txBody>
          <a:bodyPr anchor="t" rtlCol="false" tIns="0" lIns="0" bIns="0" rIns="0">
            <a:spAutoFit/>
          </a:bodyPr>
          <a:lstStyle/>
          <a:p>
            <a:pPr algn="l">
              <a:lnSpc>
                <a:spcPts val="5000"/>
              </a:lnSpc>
            </a:pPr>
            <a:r>
              <a:rPr lang="en-US" sz="5000" spc="140" b="true">
                <a:solidFill>
                  <a:srgbClr val="FFFFFF"/>
                </a:solidFill>
                <a:latin typeface="Tomorrow Bold"/>
                <a:ea typeface="Tomorrow Bold"/>
                <a:cs typeface="Tomorrow Bold"/>
                <a:sym typeface="Tomorrow Bold"/>
              </a:rPr>
              <a:t>Struktur Dasar Coding</a:t>
            </a:r>
          </a:p>
        </p:txBody>
      </p:sp>
      <p:sp>
        <p:nvSpPr>
          <p:cNvPr name="TextBox 5" id="5"/>
          <p:cNvSpPr txBox="true"/>
          <p:nvPr/>
        </p:nvSpPr>
        <p:spPr>
          <a:xfrm rot="0">
            <a:off x="1028700" y="8985526"/>
            <a:ext cx="14141121" cy="1080770"/>
          </a:xfrm>
          <a:prstGeom prst="rect">
            <a:avLst/>
          </a:prstGeom>
        </p:spPr>
        <p:txBody>
          <a:bodyPr anchor="t" rtlCol="false" tIns="0" lIns="0" bIns="0" rIns="0">
            <a:spAutoFit/>
          </a:bodyPr>
          <a:lstStyle/>
          <a:p>
            <a:pPr algn="l">
              <a:lnSpc>
                <a:spcPts val="2800"/>
              </a:lnSpc>
            </a:pPr>
            <a:r>
              <a:rPr lang="en-US" sz="2800" spc="78">
                <a:solidFill>
                  <a:srgbClr val="FFFFFF"/>
                </a:solidFill>
                <a:latin typeface="Tomorrow"/>
                <a:ea typeface="Tomorrow"/>
                <a:cs typeface="Tomorrow"/>
                <a:sym typeface="Tomorrow"/>
              </a:rPr>
              <a:t> Meskipun secara matematis direkomendasikan K tertentu, analisis dilanjutkan dengan membandingkan K=3 dan K=4:</a:t>
            </a:r>
          </a:p>
          <a:p>
            <a:pPr algn="l">
              <a:lnSpc>
                <a:spcPts val="2800"/>
              </a:lnSpc>
            </a:pP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4737559" y="7237967"/>
            <a:ext cx="5043482" cy="5175215"/>
          </a:xfrm>
          <a:custGeom>
            <a:avLst/>
            <a:gdLst/>
            <a:ahLst/>
            <a:cxnLst/>
            <a:rect r="r" b="b" t="t" l="l"/>
            <a:pathLst>
              <a:path h="5175215" w="5043482">
                <a:moveTo>
                  <a:pt x="0" y="0"/>
                </a:moveTo>
                <a:lnTo>
                  <a:pt x="5043482" y="0"/>
                </a:lnTo>
                <a:lnTo>
                  <a:pt x="5043482" y="5175215"/>
                </a:lnTo>
                <a:lnTo>
                  <a:pt x="0" y="5175215"/>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33224" y="-1049885"/>
            <a:ext cx="3550441" cy="3421334"/>
          </a:xfrm>
          <a:custGeom>
            <a:avLst/>
            <a:gdLst/>
            <a:ahLst/>
            <a:cxnLst/>
            <a:rect r="r" b="b" t="t" l="l"/>
            <a:pathLst>
              <a:path h="3421334" w="3550441">
                <a:moveTo>
                  <a:pt x="3550441" y="0"/>
                </a:moveTo>
                <a:lnTo>
                  <a:pt x="0" y="0"/>
                </a:lnTo>
                <a:lnTo>
                  <a:pt x="0" y="3421334"/>
                </a:lnTo>
                <a:lnTo>
                  <a:pt x="3550441" y="3421334"/>
                </a:lnTo>
                <a:lnTo>
                  <a:pt x="3550441"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356406" y="536327"/>
            <a:ext cx="11575188" cy="679450"/>
          </a:xfrm>
          <a:prstGeom prst="rect">
            <a:avLst/>
          </a:prstGeom>
        </p:spPr>
        <p:txBody>
          <a:bodyPr anchor="t" rtlCol="false" tIns="0" lIns="0" bIns="0" rIns="0">
            <a:spAutoFit/>
          </a:bodyPr>
          <a:lstStyle/>
          <a:p>
            <a:pPr algn="ctr">
              <a:lnSpc>
                <a:spcPts val="5000"/>
              </a:lnSpc>
            </a:pPr>
            <a:r>
              <a:rPr lang="en-US" b="true" sz="5000" spc="140">
                <a:solidFill>
                  <a:srgbClr val="FFFFFF"/>
                </a:solidFill>
                <a:latin typeface="Tomorrow Bold"/>
                <a:ea typeface="Tomorrow Bold"/>
                <a:cs typeface="Tomorrow Bold"/>
                <a:sym typeface="Tomorrow Bold"/>
              </a:rPr>
              <a:t>Evaluasi </a:t>
            </a:r>
          </a:p>
        </p:txBody>
      </p:sp>
      <p:sp>
        <p:nvSpPr>
          <p:cNvPr name="TextBox 5" id="5"/>
          <p:cNvSpPr txBox="true"/>
          <p:nvPr/>
        </p:nvSpPr>
        <p:spPr>
          <a:xfrm rot="0">
            <a:off x="2053701" y="2323824"/>
            <a:ext cx="14682406" cy="3882540"/>
          </a:xfrm>
          <a:prstGeom prst="rect">
            <a:avLst/>
          </a:prstGeom>
        </p:spPr>
        <p:txBody>
          <a:bodyPr anchor="t" rtlCol="false" tIns="0" lIns="0" bIns="0" rIns="0">
            <a:spAutoFit/>
          </a:bodyPr>
          <a:lstStyle/>
          <a:p>
            <a:pPr algn="just">
              <a:lnSpc>
                <a:spcPts val="3102"/>
              </a:lnSpc>
            </a:pPr>
            <a:r>
              <a:rPr lang="en-US" sz="2216" spc="175">
                <a:solidFill>
                  <a:srgbClr val="FFFFFF"/>
                </a:solidFill>
                <a:latin typeface="Pattanakarn"/>
                <a:ea typeface="Pattanakarn"/>
                <a:cs typeface="Pattanakarn"/>
                <a:sym typeface="Pattanakarn"/>
              </a:rPr>
              <a:t>H</a:t>
            </a:r>
            <a:r>
              <a:rPr lang="en-US" sz="2216" spc="175">
                <a:solidFill>
                  <a:srgbClr val="FFFFFF"/>
                </a:solidFill>
                <a:latin typeface="Pattanakarn"/>
                <a:ea typeface="Pattanakarn"/>
                <a:cs typeface="Pattanakarn"/>
                <a:sym typeface="Pattanakarn"/>
              </a:rPr>
              <a:t>asil Eksperimen Perbandingan:</a:t>
            </a:r>
          </a:p>
          <a:p>
            <a:pPr algn="just" marL="478523" indent="-239261" lvl="1">
              <a:lnSpc>
                <a:spcPts val="3102"/>
              </a:lnSpc>
              <a:buFont typeface="Arial"/>
              <a:buChar char="•"/>
            </a:pPr>
            <a:r>
              <a:rPr lang="en-US" sz="2216" spc="175">
                <a:solidFill>
                  <a:srgbClr val="FFFFFF"/>
                </a:solidFill>
                <a:latin typeface="Pattanakarn"/>
                <a:ea typeface="Pattanakarn"/>
                <a:cs typeface="Pattanakarn"/>
                <a:sym typeface="Pattanakarn"/>
              </a:rPr>
              <a:t>Model K=3: Silhouette Score = 0.3668 | Inertia = 795.070 (Model Terbaik)</a:t>
            </a:r>
          </a:p>
          <a:p>
            <a:pPr algn="just" marL="478523" indent="-239261" lvl="1">
              <a:lnSpc>
                <a:spcPts val="3102"/>
              </a:lnSpc>
              <a:buFont typeface="Arial"/>
              <a:buChar char="•"/>
            </a:pPr>
            <a:r>
              <a:rPr lang="en-US" sz="2216" spc="175">
                <a:solidFill>
                  <a:srgbClr val="FFFFFF"/>
                </a:solidFill>
                <a:latin typeface="Pattanakarn"/>
                <a:ea typeface="Pattanakarn"/>
                <a:cs typeface="Pattanakarn"/>
                <a:sym typeface="Pattanakarn"/>
              </a:rPr>
              <a:t>Model K=4: Silhouette Score = 0.3540 | Inertia = 627.934</a:t>
            </a:r>
          </a:p>
          <a:p>
            <a:pPr algn="just">
              <a:lnSpc>
                <a:spcPts val="3102"/>
              </a:lnSpc>
            </a:pPr>
          </a:p>
          <a:p>
            <a:pPr algn="just">
              <a:lnSpc>
                <a:spcPts val="3102"/>
              </a:lnSpc>
            </a:pPr>
            <a:r>
              <a:rPr lang="en-US" sz="2216" spc="175">
                <a:solidFill>
                  <a:srgbClr val="FFFFFF"/>
                </a:solidFill>
                <a:latin typeface="Pattanakarn"/>
                <a:ea typeface="Pattanakarn"/>
                <a:cs typeface="Pattanakarn"/>
                <a:sym typeface="Pattanakarn"/>
              </a:rPr>
              <a:t>Analisis Metrik:</a:t>
            </a:r>
          </a:p>
          <a:p>
            <a:pPr algn="just" marL="478523" indent="-239261" lvl="1">
              <a:lnSpc>
                <a:spcPts val="3102"/>
              </a:lnSpc>
              <a:buFont typeface="Arial"/>
              <a:buChar char="•"/>
            </a:pPr>
            <a:r>
              <a:rPr lang="en-US" sz="2216" spc="175">
                <a:solidFill>
                  <a:srgbClr val="FFFFFF"/>
                </a:solidFill>
                <a:latin typeface="Pattanakarn"/>
                <a:ea typeface="Pattanakarn"/>
                <a:cs typeface="Pattanakarn"/>
                <a:sym typeface="Pattanakarn"/>
              </a:rPr>
              <a:t>Silhouette Score Positif: Menunjukkan objek data telah berada pada cluster yang tepat dan terpisah jarak yang cukup jauh dari cluster tetangganya.</a:t>
            </a:r>
          </a:p>
          <a:p>
            <a:pPr algn="just" marL="478523" indent="-239261" lvl="1">
              <a:lnSpc>
                <a:spcPts val="3102"/>
              </a:lnSpc>
              <a:buFont typeface="Arial"/>
              <a:buChar char="•"/>
            </a:pPr>
            <a:r>
              <a:rPr lang="en-US" sz="2216" spc="175">
                <a:solidFill>
                  <a:srgbClr val="FFFFFF"/>
                </a:solidFill>
                <a:latin typeface="Pattanakarn"/>
                <a:ea typeface="Pattanakarn"/>
                <a:cs typeface="Pattanakarn"/>
                <a:sym typeface="Pattanakarn"/>
              </a:rPr>
              <a:t>Inertia: Nilai yang semakin kecil menunjukkan tingkat kerapatan (kohesi) data di dalam cluster yang semakin baik.</a:t>
            </a:r>
          </a:p>
          <a:p>
            <a:pPr algn="just">
              <a:lnSpc>
                <a:spcPts val="3102"/>
              </a:lnSpc>
            </a:pP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4737559" y="7237967"/>
            <a:ext cx="5043482" cy="5175215"/>
          </a:xfrm>
          <a:custGeom>
            <a:avLst/>
            <a:gdLst/>
            <a:ahLst/>
            <a:cxnLst/>
            <a:rect r="r" b="b" t="t" l="l"/>
            <a:pathLst>
              <a:path h="5175215" w="5043482">
                <a:moveTo>
                  <a:pt x="0" y="0"/>
                </a:moveTo>
                <a:lnTo>
                  <a:pt x="5043482" y="0"/>
                </a:lnTo>
                <a:lnTo>
                  <a:pt x="5043482" y="5175215"/>
                </a:lnTo>
                <a:lnTo>
                  <a:pt x="0" y="5175215"/>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33224" y="-1049885"/>
            <a:ext cx="3550441" cy="3421334"/>
          </a:xfrm>
          <a:custGeom>
            <a:avLst/>
            <a:gdLst/>
            <a:ahLst/>
            <a:cxnLst/>
            <a:rect r="r" b="b" t="t" l="l"/>
            <a:pathLst>
              <a:path h="3421334" w="3550441">
                <a:moveTo>
                  <a:pt x="3550441" y="0"/>
                </a:moveTo>
                <a:lnTo>
                  <a:pt x="0" y="0"/>
                </a:lnTo>
                <a:lnTo>
                  <a:pt x="0" y="3421334"/>
                </a:lnTo>
                <a:lnTo>
                  <a:pt x="3550441" y="3421334"/>
                </a:lnTo>
                <a:lnTo>
                  <a:pt x="3550441"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356406" y="536327"/>
            <a:ext cx="11575188" cy="679450"/>
          </a:xfrm>
          <a:prstGeom prst="rect">
            <a:avLst/>
          </a:prstGeom>
        </p:spPr>
        <p:txBody>
          <a:bodyPr anchor="t" rtlCol="false" tIns="0" lIns="0" bIns="0" rIns="0">
            <a:spAutoFit/>
          </a:bodyPr>
          <a:lstStyle/>
          <a:p>
            <a:pPr algn="ctr">
              <a:lnSpc>
                <a:spcPts val="5000"/>
              </a:lnSpc>
            </a:pPr>
            <a:r>
              <a:rPr lang="en-US" b="true" sz="5000" spc="140">
                <a:solidFill>
                  <a:srgbClr val="FFFFFF"/>
                </a:solidFill>
                <a:latin typeface="Tomorrow Bold"/>
                <a:ea typeface="Tomorrow Bold"/>
                <a:cs typeface="Tomorrow Bold"/>
                <a:sym typeface="Tomorrow Bold"/>
              </a:rPr>
              <a:t>Interpretasi</a:t>
            </a:r>
          </a:p>
        </p:txBody>
      </p:sp>
      <p:sp>
        <p:nvSpPr>
          <p:cNvPr name="TextBox 5" id="5"/>
          <p:cNvSpPr txBox="true"/>
          <p:nvPr/>
        </p:nvSpPr>
        <p:spPr>
          <a:xfrm rot="0">
            <a:off x="2053701" y="2323824"/>
            <a:ext cx="14682406" cy="5828147"/>
          </a:xfrm>
          <a:prstGeom prst="rect">
            <a:avLst/>
          </a:prstGeom>
        </p:spPr>
        <p:txBody>
          <a:bodyPr anchor="t" rtlCol="false" tIns="0" lIns="0" bIns="0" rIns="0">
            <a:spAutoFit/>
          </a:bodyPr>
          <a:lstStyle/>
          <a:p>
            <a:pPr algn="just">
              <a:lnSpc>
                <a:spcPts val="3102"/>
              </a:lnSpc>
            </a:pPr>
            <a:r>
              <a:rPr lang="en-US" sz="2216" spc="175">
                <a:solidFill>
                  <a:srgbClr val="FFFFFF"/>
                </a:solidFill>
                <a:latin typeface="Pattanakarn"/>
                <a:ea typeface="Pattanakarn"/>
                <a:cs typeface="Pattanakarn"/>
                <a:sym typeface="Pattanakarn"/>
              </a:rPr>
              <a:t>Berd</a:t>
            </a:r>
            <a:r>
              <a:rPr lang="en-US" sz="2216" spc="175">
                <a:solidFill>
                  <a:srgbClr val="FFFFFF"/>
                </a:solidFill>
                <a:latin typeface="Pattanakarn"/>
                <a:ea typeface="Pattanakarn"/>
                <a:cs typeface="Pattanakarn"/>
                <a:sym typeface="Pattanakarn"/>
              </a:rPr>
              <a:t>asarkan pemodelan final (K=3), destinasi wisata di Pulau Jawa terbagi menjadi 3 segmen:</a:t>
            </a:r>
          </a:p>
          <a:p>
            <a:pPr algn="just">
              <a:lnSpc>
                <a:spcPts val="3102"/>
              </a:lnSpc>
            </a:pPr>
          </a:p>
          <a:p>
            <a:pPr algn="just" marL="478523" indent="-239261" lvl="1">
              <a:lnSpc>
                <a:spcPts val="3102"/>
              </a:lnSpc>
              <a:buFont typeface="Arial"/>
              <a:buChar char="•"/>
            </a:pPr>
            <a:r>
              <a:rPr lang="en-US" sz="2216" spc="175">
                <a:solidFill>
                  <a:srgbClr val="FFFFFF"/>
                </a:solidFill>
                <a:latin typeface="Pattanakarn"/>
                <a:ea typeface="Pattanakarn"/>
                <a:cs typeface="Pattanakarn"/>
                <a:sym typeface="Pattanakarn"/>
              </a:rPr>
              <a:t>Cluster Khusus / Niche (Hijau)</a:t>
            </a:r>
          </a:p>
          <a:p>
            <a:pPr algn="just" marL="957046" indent="-319015" lvl="2">
              <a:lnSpc>
                <a:spcPts val="3102"/>
              </a:lnSpc>
              <a:buFont typeface="Arial"/>
              <a:buChar char="⚬"/>
            </a:pPr>
            <a:r>
              <a:rPr lang="en-US" sz="2216" spc="175">
                <a:solidFill>
                  <a:srgbClr val="FFFFFF"/>
                </a:solidFill>
                <a:latin typeface="Pattanakarn"/>
                <a:ea typeface="Pattanakarn"/>
                <a:cs typeface="Pattanakarn"/>
                <a:sym typeface="Pattanakarn"/>
              </a:rPr>
              <a:t>Kar</a:t>
            </a:r>
            <a:r>
              <a:rPr lang="en-US" sz="2216" spc="175">
                <a:solidFill>
                  <a:srgbClr val="FFFFFF"/>
                </a:solidFill>
                <a:latin typeface="Pattanakarn"/>
                <a:ea typeface="Pattanakarn"/>
                <a:cs typeface="Pattanakarn"/>
                <a:sym typeface="Pattanakarn"/>
              </a:rPr>
              <a:t>akteristik: Rating bervariasi, jumlah ulasan paling rendah.</a:t>
            </a:r>
          </a:p>
          <a:p>
            <a:pPr algn="just" marL="957046" indent="-319015" lvl="2">
              <a:lnSpc>
                <a:spcPts val="3102"/>
              </a:lnSpc>
              <a:buFont typeface="Arial"/>
              <a:buChar char="⚬"/>
            </a:pPr>
            <a:r>
              <a:rPr lang="en-US" sz="2216" spc="175">
                <a:solidFill>
                  <a:srgbClr val="FFFFFF"/>
                </a:solidFill>
                <a:latin typeface="Pattanakarn"/>
                <a:ea typeface="Pattanakarn"/>
                <a:cs typeface="Pattanakarn"/>
                <a:sym typeface="Pattanakarn"/>
              </a:rPr>
              <a:t>Kategori: Destinasi wisata baru, tersembunyi (hidden gem), atau segmented (diminati kalangan tertentu saja).</a:t>
            </a:r>
          </a:p>
          <a:p>
            <a:pPr algn="just" marL="478523" indent="-239261" lvl="1">
              <a:lnSpc>
                <a:spcPts val="3102"/>
              </a:lnSpc>
              <a:buFont typeface="Arial"/>
              <a:buChar char="•"/>
            </a:pPr>
            <a:r>
              <a:rPr lang="en-US" sz="2216" spc="175">
                <a:solidFill>
                  <a:srgbClr val="FFFFFF"/>
                </a:solidFill>
                <a:latin typeface="Pattanakarn"/>
                <a:ea typeface="Pattanakarn"/>
                <a:cs typeface="Pattanakarn"/>
                <a:sym typeface="Pattanakarn"/>
              </a:rPr>
              <a:t> </a:t>
            </a:r>
            <a:r>
              <a:rPr lang="en-US" sz="2216" spc="175">
                <a:solidFill>
                  <a:srgbClr val="FFFFFF"/>
                </a:solidFill>
                <a:latin typeface="Pattanakarn"/>
                <a:ea typeface="Pattanakarn"/>
                <a:cs typeface="Pattanakarn"/>
                <a:sym typeface="Pattanakarn"/>
              </a:rPr>
              <a:t>Cluster Populer Sedang (Oranye)</a:t>
            </a:r>
          </a:p>
          <a:p>
            <a:pPr algn="just" marL="957046" indent="-319015" lvl="2">
              <a:lnSpc>
                <a:spcPts val="3102"/>
              </a:lnSpc>
              <a:buFont typeface="Arial"/>
              <a:buChar char="⚬"/>
            </a:pPr>
            <a:r>
              <a:rPr lang="en-US" sz="2216" spc="175">
                <a:solidFill>
                  <a:srgbClr val="FFFFFF"/>
                </a:solidFill>
                <a:latin typeface="Pattanakarn"/>
                <a:ea typeface="Pattanakarn"/>
                <a:cs typeface="Pattanakarn"/>
                <a:sym typeface="Pattanakarn"/>
              </a:rPr>
              <a:t>Karakteristik: Jumlah ulasan menengah, rating baik dan stabil.</a:t>
            </a:r>
          </a:p>
          <a:p>
            <a:pPr algn="just" marL="957046" indent="-319015" lvl="2">
              <a:lnSpc>
                <a:spcPts val="3102"/>
              </a:lnSpc>
              <a:buFont typeface="Arial"/>
              <a:buChar char="⚬"/>
            </a:pPr>
            <a:r>
              <a:rPr lang="en-US" sz="2216" spc="175">
                <a:solidFill>
                  <a:srgbClr val="FFFFFF"/>
                </a:solidFill>
                <a:latin typeface="Pattanakarn"/>
                <a:ea typeface="Pattanakarn"/>
                <a:cs typeface="Pattanakarn"/>
                <a:sym typeface="Pattanakarn"/>
              </a:rPr>
              <a:t>Kategori: Destinasi wisata lokal yang sudah cukup dikenal oleh masyarakat sekitar.</a:t>
            </a:r>
          </a:p>
          <a:p>
            <a:pPr algn="just" marL="478523" indent="-239261" lvl="1">
              <a:lnSpc>
                <a:spcPts val="3102"/>
              </a:lnSpc>
              <a:buFont typeface="Arial"/>
              <a:buChar char="•"/>
            </a:pPr>
            <a:r>
              <a:rPr lang="en-US" sz="2216" spc="175">
                <a:solidFill>
                  <a:srgbClr val="FFFFFF"/>
                </a:solidFill>
                <a:latin typeface="Pattanakarn"/>
                <a:ea typeface="Pattanakarn"/>
                <a:cs typeface="Pattanakarn"/>
                <a:sym typeface="Pattanakarn"/>
              </a:rPr>
              <a:t> </a:t>
            </a:r>
            <a:r>
              <a:rPr lang="en-US" sz="2216" spc="175">
                <a:solidFill>
                  <a:srgbClr val="FFFFFF"/>
                </a:solidFill>
                <a:latin typeface="Pattanakarn"/>
                <a:ea typeface="Pattanakarn"/>
                <a:cs typeface="Pattanakarn"/>
                <a:sym typeface="Pattanakarn"/>
              </a:rPr>
              <a:t>Cluster Populer Tinggi (Biru)</a:t>
            </a:r>
          </a:p>
          <a:p>
            <a:pPr algn="just" marL="957046" indent="-319015" lvl="2">
              <a:lnSpc>
                <a:spcPts val="3102"/>
              </a:lnSpc>
              <a:buFont typeface="Arial"/>
              <a:buChar char="⚬"/>
            </a:pPr>
            <a:r>
              <a:rPr lang="en-US" sz="2216" spc="175">
                <a:solidFill>
                  <a:srgbClr val="FFFFFF"/>
                </a:solidFill>
                <a:latin typeface="Pattanakarn"/>
                <a:ea typeface="Pattanakarn"/>
                <a:cs typeface="Pattanakarn"/>
                <a:sym typeface="Pattanakarn"/>
              </a:rPr>
              <a:t>Karakteristik: Jumlah ulasan masif, rating konsisten tinggi.</a:t>
            </a:r>
          </a:p>
          <a:p>
            <a:pPr algn="just" marL="957046" indent="-319015" lvl="2">
              <a:lnSpc>
                <a:spcPts val="3102"/>
              </a:lnSpc>
              <a:buFont typeface="Arial"/>
              <a:buChar char="⚬"/>
            </a:pPr>
            <a:r>
              <a:rPr lang="en-US" sz="2216" spc="175">
                <a:solidFill>
                  <a:srgbClr val="FFFFFF"/>
                </a:solidFill>
                <a:latin typeface="Pattanakarn"/>
                <a:ea typeface="Pattanakarn"/>
                <a:cs typeface="Pattanakarn"/>
                <a:sym typeface="Pattanakarn"/>
              </a:rPr>
              <a:t>Kategori: Destinasi unggulan (landmark utama), pendorong utama pariwisata, ramai dikunjungi wisatawan domestik &amp; mancanegara.</a:t>
            </a:r>
          </a:p>
          <a:p>
            <a:pPr algn="just">
              <a:lnSpc>
                <a:spcPts val="3102"/>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4737559" y="7237967"/>
            <a:ext cx="5043482" cy="5175215"/>
          </a:xfrm>
          <a:custGeom>
            <a:avLst/>
            <a:gdLst/>
            <a:ahLst/>
            <a:cxnLst/>
            <a:rect r="r" b="b" t="t" l="l"/>
            <a:pathLst>
              <a:path h="5175215" w="5043482">
                <a:moveTo>
                  <a:pt x="0" y="0"/>
                </a:moveTo>
                <a:lnTo>
                  <a:pt x="5043482" y="0"/>
                </a:lnTo>
                <a:lnTo>
                  <a:pt x="5043482" y="5175215"/>
                </a:lnTo>
                <a:lnTo>
                  <a:pt x="0" y="5175215"/>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33224" y="-1049885"/>
            <a:ext cx="3550441" cy="3421334"/>
          </a:xfrm>
          <a:custGeom>
            <a:avLst/>
            <a:gdLst/>
            <a:ahLst/>
            <a:cxnLst/>
            <a:rect r="r" b="b" t="t" l="l"/>
            <a:pathLst>
              <a:path h="3421334" w="3550441">
                <a:moveTo>
                  <a:pt x="3550441" y="0"/>
                </a:moveTo>
                <a:lnTo>
                  <a:pt x="0" y="0"/>
                </a:lnTo>
                <a:lnTo>
                  <a:pt x="0" y="3421334"/>
                </a:lnTo>
                <a:lnTo>
                  <a:pt x="3550441" y="3421334"/>
                </a:lnTo>
                <a:lnTo>
                  <a:pt x="3550441"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2535266"/>
            <a:ext cx="5847388" cy="5216468"/>
          </a:xfrm>
          <a:custGeom>
            <a:avLst/>
            <a:gdLst/>
            <a:ahLst/>
            <a:cxnLst/>
            <a:rect r="r" b="b" t="t" l="l"/>
            <a:pathLst>
              <a:path h="5216468" w="5847388">
                <a:moveTo>
                  <a:pt x="0" y="0"/>
                </a:moveTo>
                <a:lnTo>
                  <a:pt x="5847388" y="0"/>
                </a:lnTo>
                <a:lnTo>
                  <a:pt x="5847388" y="5216468"/>
                </a:lnTo>
                <a:lnTo>
                  <a:pt x="0" y="52164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356406" y="536327"/>
            <a:ext cx="11575188" cy="679516"/>
          </a:xfrm>
          <a:prstGeom prst="rect">
            <a:avLst/>
          </a:prstGeom>
        </p:spPr>
        <p:txBody>
          <a:bodyPr anchor="t" rtlCol="false" tIns="0" lIns="0" bIns="0" rIns="0">
            <a:spAutoFit/>
          </a:bodyPr>
          <a:lstStyle/>
          <a:p>
            <a:pPr algn="ctr">
              <a:lnSpc>
                <a:spcPts val="5000"/>
              </a:lnSpc>
            </a:pPr>
            <a:r>
              <a:rPr lang="en-US" b="true" sz="5000" spc="140">
                <a:solidFill>
                  <a:srgbClr val="FFFFFF"/>
                </a:solidFill>
                <a:latin typeface="Tomorrow Bold"/>
                <a:ea typeface="Tomorrow Bold"/>
                <a:cs typeface="Tomorrow Bold"/>
                <a:sym typeface="Tomorrow Bold"/>
              </a:rPr>
              <a:t>Kesimpulan</a:t>
            </a:r>
          </a:p>
        </p:txBody>
      </p:sp>
      <p:sp>
        <p:nvSpPr>
          <p:cNvPr name="TextBox 6" id="6"/>
          <p:cNvSpPr txBox="true"/>
          <p:nvPr/>
        </p:nvSpPr>
        <p:spPr>
          <a:xfrm rot="0">
            <a:off x="7293086" y="2577921"/>
            <a:ext cx="8983297" cy="4660046"/>
          </a:xfrm>
          <a:prstGeom prst="rect">
            <a:avLst/>
          </a:prstGeom>
        </p:spPr>
        <p:txBody>
          <a:bodyPr anchor="t" rtlCol="false" tIns="0" lIns="0" bIns="0" rIns="0">
            <a:spAutoFit/>
          </a:bodyPr>
          <a:lstStyle/>
          <a:p>
            <a:pPr algn="just">
              <a:lnSpc>
                <a:spcPts val="3102"/>
              </a:lnSpc>
            </a:pPr>
            <a:r>
              <a:rPr lang="en-US" sz="2216" spc="175">
                <a:solidFill>
                  <a:srgbClr val="FFFFFF"/>
                </a:solidFill>
                <a:latin typeface="Pattanakarn"/>
                <a:ea typeface="Pattanakarn"/>
                <a:cs typeface="Pattanakarn"/>
                <a:sym typeface="Pattanakarn"/>
              </a:rPr>
              <a:t>Penelitian ini berhasil menerapkan kerangka kerja CRISP-DM untuk membangun sistem rekomendasi objek wisata di Pulau Jawa melalui tahapan prapemrosesan data yang mampu menstabilkan distribusi ulasan hingga menghasilkan data pariwisata siap olah. Berdasarkan pengujian, penelitian ini berhasil menemukan skenario klaster terbaik dengan nilai efisiensi model yang optimal untuk mengonstruksi destinasi ke dalam tiga segmen terukur. Sebagai kontribusi akhir, penilitan ini menghasilkan data utama yang berfungsi untuk mengotomatisasi sistem rekomendasi perjalanan secara objektif.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4413269" y="6670693"/>
            <a:ext cx="5043482" cy="5175215"/>
          </a:xfrm>
          <a:custGeom>
            <a:avLst/>
            <a:gdLst/>
            <a:ahLst/>
            <a:cxnLst/>
            <a:rect r="r" b="b" t="t" l="l"/>
            <a:pathLst>
              <a:path h="5175215" w="5043482">
                <a:moveTo>
                  <a:pt x="0" y="0"/>
                </a:moveTo>
                <a:lnTo>
                  <a:pt x="5043482" y="0"/>
                </a:lnTo>
                <a:lnTo>
                  <a:pt x="5043482" y="5175214"/>
                </a:lnTo>
                <a:lnTo>
                  <a:pt x="0" y="5175214"/>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368414" y="3364783"/>
            <a:ext cx="11551172" cy="2769079"/>
            <a:chOff x="0" y="0"/>
            <a:chExt cx="1370349" cy="328504"/>
          </a:xfrm>
        </p:grpSpPr>
        <p:sp>
          <p:nvSpPr>
            <p:cNvPr name="Freeform 4" id="4"/>
            <p:cNvSpPr/>
            <p:nvPr/>
          </p:nvSpPr>
          <p:spPr>
            <a:xfrm flipH="false" flipV="false" rot="0">
              <a:off x="0" y="0"/>
              <a:ext cx="1370349" cy="328504"/>
            </a:xfrm>
            <a:custGeom>
              <a:avLst/>
              <a:gdLst/>
              <a:ahLst/>
              <a:cxnLst/>
              <a:rect r="r" b="b" t="t" l="l"/>
              <a:pathLst>
                <a:path h="328504" w="1370349">
                  <a:moveTo>
                    <a:pt x="49597" y="0"/>
                  </a:moveTo>
                  <a:lnTo>
                    <a:pt x="1320753" y="0"/>
                  </a:lnTo>
                  <a:cubicBezTo>
                    <a:pt x="1348144" y="0"/>
                    <a:pt x="1370349" y="22205"/>
                    <a:pt x="1370349" y="49597"/>
                  </a:cubicBezTo>
                  <a:lnTo>
                    <a:pt x="1370349" y="278907"/>
                  </a:lnTo>
                  <a:cubicBezTo>
                    <a:pt x="1370349" y="306299"/>
                    <a:pt x="1348144" y="328504"/>
                    <a:pt x="1320753" y="328504"/>
                  </a:cubicBezTo>
                  <a:lnTo>
                    <a:pt x="49597" y="328504"/>
                  </a:lnTo>
                  <a:cubicBezTo>
                    <a:pt x="22205" y="328504"/>
                    <a:pt x="0" y="306299"/>
                    <a:pt x="0" y="278907"/>
                  </a:cubicBezTo>
                  <a:lnTo>
                    <a:pt x="0" y="49597"/>
                  </a:lnTo>
                  <a:cubicBezTo>
                    <a:pt x="0" y="22205"/>
                    <a:pt x="22205" y="0"/>
                    <a:pt x="49597" y="0"/>
                  </a:cubicBezTo>
                  <a:close/>
                </a:path>
              </a:pathLst>
            </a:custGeom>
            <a:solidFill>
              <a:srgbClr val="FFFFFF"/>
            </a:solidFill>
            <a:ln w="47625" cap="rnd">
              <a:solidFill>
                <a:srgbClr val="FFFFFF"/>
              </a:solidFill>
              <a:prstDash val="solid"/>
              <a:round/>
            </a:ln>
          </p:spPr>
        </p:sp>
        <p:sp>
          <p:nvSpPr>
            <p:cNvPr name="TextBox 5" id="5"/>
            <p:cNvSpPr txBox="true"/>
            <p:nvPr/>
          </p:nvSpPr>
          <p:spPr>
            <a:xfrm>
              <a:off x="0" y="-47625"/>
              <a:ext cx="1370349" cy="376129"/>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50590" y="-1558907"/>
            <a:ext cx="5043482" cy="5175215"/>
          </a:xfrm>
          <a:custGeom>
            <a:avLst/>
            <a:gdLst/>
            <a:ahLst/>
            <a:cxnLst/>
            <a:rect r="r" b="b" t="t" l="l"/>
            <a:pathLst>
              <a:path h="5175215" w="5043482">
                <a:moveTo>
                  <a:pt x="0" y="0"/>
                </a:moveTo>
                <a:lnTo>
                  <a:pt x="5043482" y="0"/>
                </a:lnTo>
                <a:lnTo>
                  <a:pt x="5043482" y="5175214"/>
                </a:lnTo>
                <a:lnTo>
                  <a:pt x="0" y="5175214"/>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028700" y="7433828"/>
            <a:ext cx="2842662" cy="1824472"/>
          </a:xfrm>
          <a:custGeom>
            <a:avLst/>
            <a:gdLst/>
            <a:ahLst/>
            <a:cxnLst/>
            <a:rect r="r" b="b" t="t" l="l"/>
            <a:pathLst>
              <a:path h="1824472" w="2842662">
                <a:moveTo>
                  <a:pt x="0" y="0"/>
                </a:moveTo>
                <a:lnTo>
                  <a:pt x="2842662" y="0"/>
                </a:lnTo>
                <a:lnTo>
                  <a:pt x="2842662" y="1824472"/>
                </a:lnTo>
                <a:lnTo>
                  <a:pt x="0" y="1824472"/>
                </a:lnTo>
                <a:lnTo>
                  <a:pt x="0" y="0"/>
                </a:lnTo>
                <a:close/>
              </a:path>
            </a:pathLst>
          </a:custGeom>
          <a:blipFill>
            <a:blip r:embed="rId4"/>
            <a:stretch>
              <a:fillRect l="0" t="0" r="0" b="0"/>
            </a:stretch>
          </a:blipFill>
        </p:spPr>
      </p:sp>
      <p:sp>
        <p:nvSpPr>
          <p:cNvPr name="Freeform 8" id="8"/>
          <p:cNvSpPr/>
          <p:nvPr/>
        </p:nvSpPr>
        <p:spPr>
          <a:xfrm flipH="false" flipV="false" rot="0">
            <a:off x="14413269" y="1028700"/>
            <a:ext cx="2842662" cy="1824472"/>
          </a:xfrm>
          <a:custGeom>
            <a:avLst/>
            <a:gdLst/>
            <a:ahLst/>
            <a:cxnLst/>
            <a:rect r="r" b="b" t="t" l="l"/>
            <a:pathLst>
              <a:path h="1824472" w="2842662">
                <a:moveTo>
                  <a:pt x="0" y="0"/>
                </a:moveTo>
                <a:lnTo>
                  <a:pt x="2842663" y="0"/>
                </a:lnTo>
                <a:lnTo>
                  <a:pt x="2842663" y="1824472"/>
                </a:lnTo>
                <a:lnTo>
                  <a:pt x="0" y="1824472"/>
                </a:lnTo>
                <a:lnTo>
                  <a:pt x="0" y="0"/>
                </a:lnTo>
                <a:close/>
              </a:path>
            </a:pathLst>
          </a:custGeom>
          <a:blipFill>
            <a:blip r:embed="rId4"/>
            <a:stretch>
              <a:fillRect l="0" t="0" r="0" b="0"/>
            </a:stretch>
          </a:blipFill>
        </p:spPr>
      </p:sp>
      <p:sp>
        <p:nvSpPr>
          <p:cNvPr name="Freeform 9" id="9"/>
          <p:cNvSpPr/>
          <p:nvPr/>
        </p:nvSpPr>
        <p:spPr>
          <a:xfrm flipH="false" flipV="false" rot="0">
            <a:off x="6026717" y="5392493"/>
            <a:ext cx="6234565" cy="6583769"/>
          </a:xfrm>
          <a:custGeom>
            <a:avLst/>
            <a:gdLst/>
            <a:ahLst/>
            <a:cxnLst/>
            <a:rect r="r" b="b" t="t" l="l"/>
            <a:pathLst>
              <a:path h="6583769" w="6234565">
                <a:moveTo>
                  <a:pt x="0" y="0"/>
                </a:moveTo>
                <a:lnTo>
                  <a:pt x="6234566" y="0"/>
                </a:lnTo>
                <a:lnTo>
                  <a:pt x="6234566" y="6583769"/>
                </a:lnTo>
                <a:lnTo>
                  <a:pt x="0" y="65837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4533437" y="3944228"/>
            <a:ext cx="9221126" cy="1451642"/>
          </a:xfrm>
          <a:prstGeom prst="rect">
            <a:avLst/>
          </a:prstGeom>
        </p:spPr>
        <p:txBody>
          <a:bodyPr anchor="t" rtlCol="false" tIns="0" lIns="0" bIns="0" rIns="0">
            <a:spAutoFit/>
          </a:bodyPr>
          <a:lstStyle/>
          <a:p>
            <a:pPr algn="ctr">
              <a:lnSpc>
                <a:spcPts val="11859"/>
              </a:lnSpc>
            </a:pPr>
            <a:r>
              <a:rPr lang="en-US" b="true" sz="8470" spc="177">
                <a:solidFill>
                  <a:srgbClr val="00385E"/>
                </a:solidFill>
                <a:latin typeface="Pattanakarn Bold"/>
                <a:ea typeface="Pattanakarn Bold"/>
                <a:cs typeface="Pattanakarn Bold"/>
                <a:sym typeface="Pattanakar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DAHO_JiYIfk</dc:identifier>
  <dcterms:modified xsi:type="dcterms:W3CDTF">2011-08-01T06:04:30Z</dcterms:modified>
  <cp:revision>1</cp:revision>
  <dc:title>Biru Putih Modern Pelatihan Coding Dasar Presentasi</dc:title>
</cp:coreProperties>
</file>